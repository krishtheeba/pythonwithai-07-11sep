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2" r:id="rId14"/>
    <p:sldId id="273" r:id="rId15"/>
    <p:sldId id="275" r:id="rId16"/>
    <p:sldId id="276" r:id="rId17"/>
    <p:sldId id="277" r:id="rId18"/>
    <p:sldId id="278" r:id="rId19"/>
    <p:sldId id="279" r:id="rId20"/>
    <p:sldId id="280" r:id="rId21"/>
    <p:sldId id="282" r:id="rId22"/>
    <p:sldId id="28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-34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731520"/>
            <a:ext cx="109728" cy="5120640"/>
          </a:xfrm>
          <a:prstGeom prst="rect">
            <a:avLst/>
          </a:prstGeom>
          <a:solidFill>
            <a:srgbClr val="D67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05156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</a:defRPr>
            </a:pPr>
            <a:r>
              <a:t>OCI AI, Data Science &amp;</a:t>
            </a:r>
            <a:br/>
            <a:r>
              <a:t>Autonomous Database</a:t>
            </a:r>
          </a:p>
          <a:p>
            <a:pPr>
              <a:spcBef>
                <a:spcPts val="1400"/>
              </a:spcBef>
              <a:defRPr sz="1800">
                <a:solidFill>
                  <a:srgbClr val="CDDCEB"/>
                </a:solidFill>
              </a:defRPr>
            </a:pPr>
            <a:r>
              <a:t>Python notebooks • AI Services • ADB connectivity • ML model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3749039"/>
            <a:ext cx="3108960" cy="1143000"/>
          </a:xfrm>
          <a:prstGeom prst="roundRect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3858768"/>
            <a:ext cx="2779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1. OCI AI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4251959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226"/>
                </a:solidFill>
              </a:defRPr>
            </a:pPr>
            <a:r>
              <a:t>Vision • Language • Speech • Document Understanding • Generative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749039"/>
            <a:ext cx="3108960" cy="1143000"/>
          </a:xfrm>
          <a:prstGeom prst="roundRect">
            <a:avLst/>
          </a:prstGeom>
          <a:solidFill>
            <a:srgbClr val="E7F6EC"/>
          </a:solidFill>
          <a:ln>
            <a:solidFill>
              <a:srgbClr val="E7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3858768"/>
            <a:ext cx="2779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2. OCI Data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4251959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226"/>
                </a:solidFill>
              </a:defRPr>
            </a:pPr>
            <a:r>
              <a:t>Projects • Notebook Sessions • Python • Model Catalog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749039"/>
            <a:ext cx="3108960" cy="1143000"/>
          </a:xfrm>
          <a:prstGeom prst="roundRect">
            <a:avLst/>
          </a:prstGeom>
          <a:solidFill>
            <a:srgbClr val="FCF1E0"/>
          </a:solidFill>
          <a:ln>
            <a:solidFill>
              <a:srgbClr val="F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45552" y="3858768"/>
            <a:ext cx="2779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3. ADB + ML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4251959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226"/>
                </a:solidFill>
              </a:defRPr>
            </a:pPr>
            <a:r>
              <a:t>python-oracledb • Wallet • Endpoint • Production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8064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CDDC"/>
                </a:solidFill>
              </a:defRPr>
            </a:pPr>
            <a:r>
              <a:t>Prepared as a hands-on teaching deck • OCI console screens are representative and annotated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3D"/>
                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E2226"/>
                </a:solidFill>
              </a:defRPr>
            </a:pPr>
            <a:r>
              <a:t>Understand where OCI AI Services fit in an application architecture.</a:t>
            </a:r>
          </a:p>
          <a:p>
            <a:pPr>
              <a:spcAft>
                <a:spcPts val="700"/>
              </a:spcAft>
              <a:defRPr sz="1800" b="0">
                <a:solidFill>
                  <a:srgbClr val="1E2226"/>
                </a:solidFill>
              </a:defRPr>
            </a:pPr>
            <a:r>
              <a:t>Create an OCI Data Science Project and Notebook Session and use JupyterLab with Python.</a:t>
            </a:r>
          </a:p>
          <a:p>
            <a:pPr>
              <a:spcAft>
                <a:spcPts val="700"/>
              </a:spcAft>
              <a:defRPr sz="1800" b="0">
                <a:solidFill>
                  <a:srgbClr val="1E2226"/>
                </a:solidFill>
              </a:defRPr>
            </a:pPr>
            <a:r>
              <a:t>Connect a Python notebook to Oracle Autonomous Database using python-oracledb and an Autonomous Database wallet.</a:t>
            </a:r>
          </a:p>
          <a:p>
            <a:pPr>
              <a:spcAft>
                <a:spcPts val="700"/>
              </a:spcAft>
              <a:defRPr sz="1800" b="0">
                <a:solidFill>
                  <a:srgbClr val="1E2226"/>
                </a:solidFill>
              </a:defRPr>
            </a:pPr>
            <a:r>
              <a:t>Train a scikit-learn model, save it to the OCI Model Catalog, and deploy it as an HTTPS endpoint.</a:t>
            </a:r>
          </a:p>
          <a:p>
            <a:pPr>
              <a:spcAft>
                <a:spcPts val="700"/>
              </a:spcAft>
              <a:defRPr sz="1800" b="0">
                <a:solidFill>
                  <a:srgbClr val="1E2226"/>
                </a:solidFill>
              </a:defRPr>
            </a:pPr>
            <a:r>
              <a:t>Understand the security, networking, IAM and operational pieces needed to move from experiment to production.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03520"/>
            <a:ext cx="10515600" cy="731520"/>
          </a:xfrm>
          <a:prstGeom prst="roundRect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5413248"/>
            <a:ext cx="10186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Teaching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806440"/>
            <a:ext cx="1018641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2226"/>
                </a:solidFill>
              </a:defRPr>
            </a:pPr>
            <a:r>
              <a:t>Console → configuration → Python code → result → productionization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Oracle Cloud Infrastructure • Training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3D"/>
                </a:solidFill>
              </a:defRPr>
            </a:pPr>
            <a:r>
              <a:t>OCI end-to-end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65960"/>
            <a:ext cx="2057400" cy="1920240"/>
          </a:xfrm>
          <a:prstGeom prst="roundRect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2075688"/>
            <a:ext cx="1728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468880"/>
            <a:ext cx="17282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226"/>
                </a:solidFill>
              </a:defRPr>
            </a:pPr>
            <a:r>
              <a:t>Autonomous Database</a:t>
            </a:r>
            <a:br/>
            <a:r>
              <a:t>Object Storage</a:t>
            </a:r>
            <a:br/>
            <a:r>
              <a:t>Files /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87752" y="26060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466AD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1965960"/>
            <a:ext cx="2057400" cy="1920240"/>
          </a:xfrm>
          <a:prstGeom prst="roundRect">
            <a:avLst/>
          </a:prstGeom>
          <a:solidFill>
            <a:srgbClr val="E7F6EC"/>
          </a:solidFill>
          <a:ln>
            <a:solidFill>
              <a:srgbClr val="E7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99232" y="2075688"/>
            <a:ext cx="1728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Explore &amp; 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468880"/>
            <a:ext cx="17282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226"/>
                </a:solidFill>
              </a:defRPr>
            </a:pPr>
            <a:r>
              <a:t>OCI Data Science</a:t>
            </a:r>
            <a:br/>
            <a:r>
              <a:t>JupyterLab + Python</a:t>
            </a:r>
            <a:br/>
            <a:r>
              <a:t>scikit-learn / XGBoost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1" y="26060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466AD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59" y="1965960"/>
            <a:ext cx="2057400" cy="1920240"/>
          </a:xfrm>
          <a:prstGeom prst="roundRect">
            <a:avLst/>
          </a:prstGeom>
          <a:solidFill>
            <a:srgbClr val="FCF1E0"/>
          </a:solidFill>
          <a:ln>
            <a:solidFill>
              <a:srgbClr val="F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30951" y="2075688"/>
            <a:ext cx="1728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1" y="2468880"/>
            <a:ext cx="17282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226"/>
                </a:solidFill>
              </a:defRPr>
            </a:pPr>
            <a:r>
              <a:t>Model Catalog</a:t>
            </a:r>
            <a:br/>
            <a:r>
              <a:t>model artifact</a:t>
            </a:r>
            <a:br/>
            <a:r>
              <a:t>runtime + score.py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1192" y="26060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466AD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965960"/>
            <a:ext cx="2057400" cy="1920240"/>
          </a:xfrm>
          <a:prstGeom prst="roundRect">
            <a:avLst/>
          </a:prstGeom>
          <a:solidFill>
            <a:srgbClr val="FCEBEB"/>
          </a:solidFill>
          <a:ln>
            <a:solidFill>
              <a:srgbClr val="FC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62671" y="2075688"/>
            <a:ext cx="1728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1" y="2468880"/>
            <a:ext cx="17282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226"/>
                </a:solidFill>
              </a:defRPr>
            </a:pPr>
            <a:r>
              <a:t>Model Deployment</a:t>
            </a:r>
            <a:br/>
            <a:r>
              <a:t>HTTPS endpoint</a:t>
            </a:r>
            <a:br/>
            <a:r>
              <a:t>load balancing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2911" y="26060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466AD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1965960"/>
            <a:ext cx="2057400" cy="1920240"/>
          </a:xfrm>
          <a:prstGeom prst="roundRect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94392" y="2075688"/>
            <a:ext cx="1728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Consume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94392" y="2468880"/>
            <a:ext cx="17282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226"/>
                </a:solidFill>
              </a:defRPr>
            </a:pPr>
            <a:r>
              <a:t>Python / REST</a:t>
            </a:r>
            <a:br/>
            <a:r>
              <a:t>Application</a:t>
            </a:r>
            <a:br/>
            <a:r>
              <a:t>Dashboard / APEX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434840"/>
            <a:ext cx="10515600" cy="960120"/>
          </a:xfrm>
          <a:prstGeom prst="roundRect">
            <a:avLst/>
          </a:prstGeom>
          <a:solidFill>
            <a:srgbClr val="F3F5F7"/>
          </a:solidFill>
          <a:ln>
            <a:solidFill>
              <a:srgbClr val="F3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" y="4544568"/>
            <a:ext cx="10186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Key idea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4937759"/>
            <a:ext cx="101864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226"/>
                </a:solidFill>
              </a:defRPr>
            </a:pPr>
            <a:r>
              <a:t>OCI Data Science covers the ML lifecycle: build/train in notebooks or jobs, save the artifact to Model Catalog, then deploy it as an HTTP endpoint.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236208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Source / reference: Oracle Data Science guide and Model Deployments documentation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658368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Oracle Cloud Infrastructure • Training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3D"/>
                </a:solidFill>
              </a:defRPr>
            </a:pPr>
            <a:r>
              <a:t>1. OCI AI Services — what they provide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37560" cy="1417320"/>
          </a:xfrm>
          <a:prstGeom prst="roundRect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435607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28800"/>
            <a:ext cx="30083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226"/>
                </a:solidFill>
              </a:defRPr>
            </a:pPr>
            <a:r>
              <a:t>Image classification, object detection, image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337560" cy="1417320"/>
          </a:xfrm>
          <a:prstGeom prst="roundRect">
            <a:avLst/>
          </a:prstGeom>
          <a:solidFill>
            <a:srgbClr val="E7F6EC"/>
          </a:solidFill>
          <a:ln>
            <a:solidFill>
              <a:srgbClr val="E7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07992" y="1435607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1828800"/>
            <a:ext cx="30083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226"/>
                </a:solidFill>
              </a:defRPr>
            </a:pPr>
            <a:r>
              <a:t>Sentiment, entities, key phrases, translation and text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325880"/>
            <a:ext cx="3337560" cy="1417320"/>
          </a:xfrm>
          <a:prstGeom prst="roundRect">
            <a:avLst/>
          </a:prstGeom>
          <a:solidFill>
            <a:srgbClr val="FCF1E0"/>
          </a:solidFill>
          <a:ln>
            <a:solidFill>
              <a:srgbClr val="F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11311" y="1435607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Speech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1" y="1828800"/>
            <a:ext cx="30083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226"/>
                </a:solidFill>
              </a:defRPr>
            </a:pPr>
            <a:r>
              <a:t>Speech-to-text and related audio 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3337560" cy="1417320"/>
          </a:xfrm>
          <a:prstGeom prst="roundRect">
            <a:avLst/>
          </a:prstGeom>
          <a:solidFill>
            <a:srgbClr val="FCEBEB"/>
          </a:solidFill>
          <a:ln>
            <a:solidFill>
              <a:srgbClr val="FC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1" y="3264408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Document Understanding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657600"/>
            <a:ext cx="30083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226"/>
                </a:solidFill>
              </a:defRPr>
            </a:pPr>
            <a:r>
              <a:t>Extract text, tables, key-value pairs and document structure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154680"/>
            <a:ext cx="3337560" cy="1417320"/>
          </a:xfrm>
          <a:prstGeom prst="roundRect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07992" y="3264408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Anomaly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657600"/>
            <a:ext cx="30083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226"/>
                </a:solidFill>
              </a:defRPr>
            </a:pPr>
            <a:r>
              <a:t>Identify unusual patterns in time-series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3154680"/>
            <a:ext cx="3337560" cy="1417320"/>
          </a:xfrm>
          <a:prstGeom prst="roundRect">
            <a:avLst/>
          </a:prstGeom>
          <a:solidFill>
            <a:srgbClr val="E7F6EC"/>
          </a:solidFill>
          <a:ln>
            <a:solidFill>
              <a:srgbClr val="E7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1311" y="3264408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Generative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1" y="3657600"/>
            <a:ext cx="30083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226"/>
                </a:solidFill>
              </a:defRPr>
            </a:pPr>
            <a:r>
              <a:t>Hosted foundation models, embeddings and generative workloads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257800"/>
            <a:ext cx="10789920" cy="685800"/>
          </a:xfrm>
          <a:prstGeom prst="roundRect">
            <a:avLst/>
          </a:prstGeom>
          <a:solidFill>
            <a:srgbClr val="F3F5F7"/>
          </a:solidFill>
          <a:ln>
            <a:solidFill>
              <a:srgbClr val="F3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" y="5367528"/>
            <a:ext cx="10460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When to use AI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5760720"/>
            <a:ext cx="1046073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226"/>
                </a:solidFill>
              </a:defRPr>
            </a:pPr>
            <a:r>
              <a:t>Use a managed AI API when the AI capability is already available as a service; use Data Science when you need to build/train/customize your own ML model.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658368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Oracle Cloud Infrastructure • Training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3D"/>
                </a:solidFill>
              </a:defRPr>
            </a:pPr>
            <a:r>
              <a:t>AI Services example — OCI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6583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6583680" cy="347472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30936" y="1298448"/>
            <a:ext cx="73152" cy="73152"/>
          </a:xfrm>
          <a:prstGeom prst="ellipse">
            <a:avLst/>
          </a:prstGeom>
          <a:solidFill>
            <a:srgbClr val="AAA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95528" y="1298448"/>
            <a:ext cx="73152" cy="73152"/>
          </a:xfrm>
          <a:prstGeom prst="ellipse">
            <a:avLst/>
          </a:prstGeom>
          <a:solidFill>
            <a:srgbClr val="AAA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1298448"/>
            <a:ext cx="73152" cy="73152"/>
          </a:xfrm>
          <a:prstGeom prst="ellipse">
            <a:avLst/>
          </a:prstGeom>
          <a:solidFill>
            <a:srgbClr val="AAA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1252728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2D3D"/>
                </a:solidFill>
              </a:defRPr>
            </a:pPr>
            <a:r>
              <a:t>ORACLE Cloud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1514246" cy="404164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1239926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850">
                <a:solidFill>
                  <a:srgbClr val="5F6973"/>
                </a:solidFill>
              </a:defRPr>
            </a:pPr>
            <a:r>
              <a:t>Overview</a:t>
            </a:r>
          </a:p>
          <a:p>
            <a:pPr>
              <a:spcAft>
                <a:spcPts val="600"/>
              </a:spcAft>
              <a:defRPr sz="850">
                <a:solidFill>
                  <a:srgbClr val="5F6973"/>
                </a:solidFill>
              </a:defRPr>
            </a:pPr>
            <a:r>
              <a:t>Projects</a:t>
            </a:r>
          </a:p>
          <a:p>
            <a:pPr>
              <a:spcAft>
                <a:spcPts val="600"/>
              </a:spcAft>
              <a:defRPr sz="850">
                <a:solidFill>
                  <a:srgbClr val="5F6973"/>
                </a:solidFill>
              </a:defRPr>
            </a:pPr>
            <a:r>
              <a:t>Image analysis</a:t>
            </a:r>
          </a:p>
          <a:p>
            <a:pPr>
              <a:spcAft>
                <a:spcPts val="600"/>
              </a:spcAft>
              <a:defRPr sz="850">
                <a:solidFill>
                  <a:srgbClr val="5F6973"/>
                </a:solidFill>
              </a:defRPr>
            </a:pPr>
            <a:r>
              <a:t>Document analysis</a:t>
            </a:r>
          </a:p>
          <a:p>
            <a:pPr>
              <a:spcAft>
                <a:spcPts val="600"/>
              </a:spcAft>
              <a:defRPr sz="850">
                <a:solidFill>
                  <a:srgbClr val="5F6973"/>
                </a:solidFill>
              </a:defRPr>
            </a:pPr>
            <a:r>
              <a:t>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1758" y="1664208"/>
            <a:ext cx="474939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</a:defRPr>
            </a:pPr>
            <a:r>
              <a:t>Vision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81758" y="2148840"/>
            <a:ext cx="1464259" cy="914400"/>
          </a:xfrm>
          <a:prstGeom prst="roundRect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46350" y="2258568"/>
            <a:ext cx="11350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Image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6350" y="2651760"/>
            <a:ext cx="11350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226"/>
                </a:solidFill>
              </a:defRPr>
            </a:pPr>
            <a:r>
              <a:t>Objects, labels, 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55745" y="2148840"/>
            <a:ext cx="1464259" cy="914400"/>
          </a:xfrm>
          <a:prstGeom prst="roundRect">
            <a:avLst/>
          </a:prstGeom>
          <a:solidFill>
            <a:srgbClr val="E7F6EC"/>
          </a:solidFill>
          <a:ln>
            <a:solidFill>
              <a:srgbClr val="E7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20337" y="2258568"/>
            <a:ext cx="11350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Document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20337" y="2651760"/>
            <a:ext cx="11350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226"/>
                </a:solidFill>
              </a:defRPr>
            </a:pPr>
            <a:r>
              <a:t>OCR + structure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9732" y="2148840"/>
            <a:ext cx="1464259" cy="914400"/>
          </a:xfrm>
          <a:prstGeom prst="roundRect">
            <a:avLst/>
          </a:prstGeom>
          <a:solidFill>
            <a:srgbClr val="FCF1E0"/>
          </a:solidFill>
          <a:ln>
            <a:solidFill>
              <a:srgbClr val="F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94324" y="2258568"/>
            <a:ext cx="11350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Custom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94324" y="2651760"/>
            <a:ext cx="11350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226"/>
                </a:solidFill>
              </a:defRPr>
            </a:pPr>
            <a:r>
              <a:t>Train/customize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325880"/>
            <a:ext cx="4206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E2226"/>
                </a:solidFill>
              </a:defRPr>
            </a:pPr>
            <a:r>
              <a:t>1. Select the AI service from Analytics &amp; AI.</a:t>
            </a:r>
          </a:p>
          <a:p>
            <a:pPr>
              <a:spcAft>
                <a:spcPts val="700"/>
              </a:spcAft>
              <a:defRPr sz="1400" b="0">
                <a:solidFill>
                  <a:srgbClr val="1E2226"/>
                </a:solidFill>
              </a:defRPr>
            </a:pPr>
            <a:r>
              <a:t>2. Choose the appropriate task: image analysis, document analysis, or a custom model.</a:t>
            </a:r>
          </a:p>
          <a:p>
            <a:pPr>
              <a:spcAft>
                <a:spcPts val="700"/>
              </a:spcAft>
              <a:defRPr sz="1400" b="0">
                <a:solidFill>
                  <a:srgbClr val="1E2226"/>
                </a:solidFill>
              </a:defRPr>
            </a:pPr>
            <a:r>
              <a:t>3. Provide the image/document and call the service through Console, REST API or SDK.</a:t>
            </a:r>
          </a:p>
          <a:p>
            <a:pPr>
              <a:spcAft>
                <a:spcPts val="700"/>
              </a:spcAft>
              <a:defRPr sz="1400" b="0">
                <a:solidFill>
                  <a:srgbClr val="1E2226"/>
                </a:solidFill>
              </a:defRPr>
            </a:pPr>
            <a:r>
              <a:t>4. Use the returned JSON in your Python application.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4709160"/>
            <a:ext cx="4114800" cy="914400"/>
          </a:xfrm>
          <a:prstGeom prst="roundRect">
            <a:avLst/>
          </a:prstGeom>
          <a:solidFill>
            <a:srgbClr val="F3F5F7"/>
          </a:solidFill>
          <a:ln>
            <a:solidFill>
              <a:srgbClr val="F3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79792" y="4818888"/>
            <a:ext cx="37856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Teaching 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5212080"/>
            <a:ext cx="3785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226"/>
                </a:solidFill>
              </a:defRPr>
            </a:pPr>
            <a:r>
              <a:t>The console is useful for learning and testing. Production applications normally call the API/SDK programmatically.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236208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Source / reference: Oracle LiveLabs — OCI AI Vision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658368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Oracle Cloud Infrastructure • Training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3D"/>
                </a:solidFill>
              </a:defRPr>
            </a:pPr>
            <a:r>
              <a:t>2. OCI Data Science with Python notebooks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6400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2226"/>
                </a:solidFill>
              </a:defRPr>
            </a:pPr>
            <a:r>
              <a:t>OCI Data Science is a fully managed platform for building, training, deploying and managing ML models.</a:t>
            </a:r>
          </a:p>
          <a:p>
            <a:pPr>
              <a:spcAft>
                <a:spcPts val="700"/>
              </a:spcAft>
              <a:defRPr sz="1600" b="0">
                <a:solidFill>
                  <a:srgbClr val="1E2226"/>
                </a:solidFill>
              </a:defRPr>
            </a:pPr>
            <a:r>
              <a:t>Projects organize notebooks, jobs, models and other resources for a team.</a:t>
            </a:r>
          </a:p>
          <a:p>
            <a:pPr>
              <a:spcAft>
                <a:spcPts val="700"/>
              </a:spcAft>
              <a:defRPr sz="1600" b="0">
                <a:solidFill>
                  <a:srgbClr val="1E2226"/>
                </a:solidFill>
              </a:defRPr>
            </a:pPr>
            <a:r>
              <a:t>Notebook Sessions provide managed JupyterLab environments with configurable CPU/GPU, memory, storage and networking.</a:t>
            </a:r>
          </a:p>
          <a:p>
            <a:pPr>
              <a:spcAft>
                <a:spcPts val="700"/>
              </a:spcAft>
              <a:defRPr sz="1600" b="0">
                <a:solidFill>
                  <a:srgbClr val="1E2226"/>
                </a:solidFill>
              </a:defRPr>
            </a:pPr>
            <a:r>
              <a:t>Conda environments help keep Python dependencies isolated and reproducible.</a:t>
            </a:r>
          </a:p>
          <a:p>
            <a:pPr>
              <a:spcAft>
                <a:spcPts val="700"/>
              </a:spcAft>
              <a:defRPr sz="1600" b="0">
                <a:solidFill>
                  <a:srgbClr val="1E2226"/>
                </a:solidFill>
              </a:defRPr>
            </a:pPr>
            <a:r>
              <a:t>Python libraries such as pandas, NumPy and scikit-learn can be used alongside Oracle's Accelerated Data Science (ADS) SDK.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417320"/>
            <a:ext cx="3931920" cy="1143000"/>
          </a:xfrm>
          <a:prstGeom prst="roundRect">
            <a:avLst/>
          </a:prstGeom>
          <a:solidFill>
            <a:srgbClr val="E7F6EC"/>
          </a:solidFill>
          <a:ln>
            <a:solidFill>
              <a:srgbClr val="E7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79792" y="1527048"/>
            <a:ext cx="3602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79792" y="1920240"/>
            <a:ext cx="3602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226"/>
                </a:solidFill>
              </a:defRPr>
            </a:pPr>
            <a:r>
              <a:t>Logical workspace for ML resources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788920"/>
            <a:ext cx="3931920" cy="1143000"/>
          </a:xfrm>
          <a:prstGeom prst="roundRect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79792" y="2898648"/>
            <a:ext cx="3602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Notebook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9792" y="3291839"/>
            <a:ext cx="3602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226"/>
                </a:solidFill>
              </a:defRPr>
            </a:pPr>
            <a:r>
              <a:t>Managed compute + JupyterLab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160520"/>
            <a:ext cx="3931920" cy="1143000"/>
          </a:xfrm>
          <a:prstGeom prst="roundRect">
            <a:avLst/>
          </a:prstGeom>
          <a:solidFill>
            <a:srgbClr val="FCF1E0"/>
          </a:solidFill>
          <a:ln>
            <a:solidFill>
              <a:srgbClr val="F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79792" y="4270248"/>
            <a:ext cx="3602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Model 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4663440"/>
            <a:ext cx="3602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226"/>
                </a:solidFill>
              </a:defRPr>
            </a:pPr>
            <a:r>
              <a:t>Central repository for deployable artifacts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236208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Source / reference: Oracle Data Science — A Data Scientist's Guide to OCI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658368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Oracle Cloud Infrastructure • Training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3D"/>
                </a:solidFill>
              </a:defRPr>
            </a:pPr>
            <a:r>
              <a:t>Inside the notebook — JupyterLab + Python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66751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6675120" cy="347472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30936" y="1252728"/>
            <a:ext cx="73152" cy="73152"/>
          </a:xfrm>
          <a:prstGeom prst="ellipse">
            <a:avLst/>
          </a:prstGeom>
          <a:solidFill>
            <a:srgbClr val="AAA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95528" y="1252728"/>
            <a:ext cx="73152" cy="73152"/>
          </a:xfrm>
          <a:prstGeom prst="ellipse">
            <a:avLst/>
          </a:prstGeom>
          <a:solidFill>
            <a:srgbClr val="AAA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1252728"/>
            <a:ext cx="73152" cy="73152"/>
          </a:xfrm>
          <a:prstGeom prst="ellipse">
            <a:avLst/>
          </a:prstGeom>
          <a:solidFill>
            <a:srgbClr val="AAA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1207008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2D3D"/>
                </a:solidFill>
              </a:defRPr>
            </a:pPr>
            <a:r>
              <a:t>ORACLE Cloud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90472"/>
            <a:ext cx="1535277" cy="431596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1260957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850">
                <a:solidFill>
                  <a:srgbClr val="5F6973"/>
                </a:solidFill>
              </a:defRPr>
            </a:pPr>
            <a:r>
              <a:t>Launcher</a:t>
            </a:r>
          </a:p>
          <a:p>
            <a:pPr>
              <a:spcAft>
                <a:spcPts val="600"/>
              </a:spcAft>
              <a:defRPr sz="850">
                <a:solidFill>
                  <a:srgbClr val="5F6973"/>
                </a:solidFill>
              </a:defRPr>
            </a:pPr>
            <a:r>
              <a:t>/home/datascience</a:t>
            </a:r>
          </a:p>
          <a:p>
            <a:pPr>
              <a:spcAft>
                <a:spcPts val="600"/>
              </a:spcAft>
              <a:defRPr sz="850">
                <a:solidFill>
                  <a:srgbClr val="5F6973"/>
                </a:solidFill>
              </a:defRPr>
            </a:pPr>
            <a:r>
              <a:t>conda</a:t>
            </a:r>
          </a:p>
          <a:p>
            <a:pPr>
              <a:spcAft>
                <a:spcPts val="600"/>
              </a:spcAft>
              <a:defRPr sz="850">
                <a:solidFill>
                  <a:srgbClr val="5F6973"/>
                </a:solidFill>
              </a:defRPr>
            </a:pPr>
            <a:r>
              <a:t>Sample notebooks</a:t>
            </a:r>
          </a:p>
          <a:p>
            <a:pPr>
              <a:spcAft>
                <a:spcPts val="600"/>
              </a:spcAft>
              <a:defRPr sz="850">
                <a:solidFill>
                  <a:srgbClr val="5F6973"/>
                </a:solidFill>
              </a:defRPr>
            </a:pPr>
            <a:r>
              <a:t>my_model.ipynb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2789" y="1618488"/>
            <a:ext cx="48198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</a:defRPr>
            </a:pPr>
            <a:r>
              <a:t>my_model.ipynb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02789" y="2103120"/>
            <a:ext cx="1487728" cy="914400"/>
          </a:xfrm>
          <a:prstGeom prst="roundRect">
            <a:avLst/>
          </a:prstGeom>
          <a:solidFill>
            <a:srgbClr val="E7F6EC"/>
          </a:solidFill>
          <a:ln>
            <a:solidFill>
              <a:srgbClr val="E7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67381" y="2212848"/>
            <a:ext cx="11585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Python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7381" y="2606039"/>
            <a:ext cx="1158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226"/>
                </a:solidFill>
              </a:defRPr>
            </a:pPr>
            <a:r>
              <a:t>Kernel / environment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00246" y="2103120"/>
            <a:ext cx="1487728" cy="914400"/>
          </a:xfrm>
          <a:prstGeom prst="roundRect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64838" y="2212848"/>
            <a:ext cx="11585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4838" y="2606039"/>
            <a:ext cx="1158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226"/>
                </a:solidFill>
              </a:defRPr>
            </a:pPr>
            <a:r>
              <a:t>Notebook + datasets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7703" y="2103120"/>
            <a:ext cx="1487728" cy="914400"/>
          </a:xfrm>
          <a:prstGeom prst="roundRect">
            <a:avLst/>
          </a:prstGeom>
          <a:solidFill>
            <a:srgbClr val="FCF1E0"/>
          </a:solidFill>
          <a:ln>
            <a:solidFill>
              <a:srgbClr val="F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62295" y="2212848"/>
            <a:ext cx="11585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Terminal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62295" y="2606039"/>
            <a:ext cx="1158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226"/>
                </a:solidFill>
              </a:defRPr>
            </a:pPr>
            <a:r>
              <a:t>Install / configure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1325880"/>
            <a:ext cx="3886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6"/>
                </a:solidFill>
              </a:defRPr>
            </a:pPr>
            <a:r>
              <a:t>Notebook cells let you experiment interactively.</a:t>
            </a:r>
          </a:p>
          <a:p>
            <a:pPr>
              <a:spcAft>
                <a:spcPts val="700"/>
              </a:spcAft>
              <a:defRPr sz="1300" b="0">
                <a:solidFill>
                  <a:srgbClr val="1E2226"/>
                </a:solidFill>
              </a:defRPr>
            </a:pPr>
            <a:r>
              <a:t>Use pandas for data preparation and matplotlib for visualization.</a:t>
            </a:r>
          </a:p>
          <a:p>
            <a:pPr>
              <a:spcAft>
                <a:spcPts val="700"/>
              </a:spcAft>
              <a:defRPr sz="1300" b="0">
                <a:solidFill>
                  <a:srgbClr val="1E2226"/>
                </a:solidFill>
              </a:defRPr>
            </a:pPr>
            <a:r>
              <a:t>Train a model and evaluate it before deployment.</a:t>
            </a:r>
          </a:p>
          <a:p>
            <a:pPr>
              <a:spcAft>
                <a:spcPts val="700"/>
              </a:spcAft>
              <a:defRPr sz="1300" b="0">
                <a:solidFill>
                  <a:srgbClr val="1E2226"/>
                </a:solidFill>
              </a:defRPr>
            </a:pPr>
            <a:r>
              <a:t>Save reusable dependencies in a Conda environment.</a:t>
            </a:r>
          </a:p>
          <a:p>
            <a:pPr>
              <a:spcAft>
                <a:spcPts val="700"/>
              </a:spcAft>
              <a:defRPr sz="1300" b="0">
                <a:solidFill>
                  <a:srgbClr val="1E2226"/>
                </a:solidFill>
              </a:defRPr>
            </a:pPr>
            <a:r>
              <a:t>Use environment variables and resource principals instead of embedding secrets in code.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236208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Source / reference: Oracle Data Science documentation — Notebook Sessions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658368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Oracle Cloud Infrastructure • Training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3D"/>
                </a:solidFill>
              </a:defRPr>
            </a:pPr>
            <a:r>
              <a:t>Example: train a model in the OCI notebook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10881360" cy="4892040"/>
          </a:xfrm>
          <a:prstGeom prst="roundRect">
            <a:avLst/>
          </a:prstGeom>
          <a:solidFill>
            <a:srgbClr val="19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307592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BF0F5"/>
                </a:solidFill>
                <a:latin typeface="Consolas"/>
              </a:defRPr>
            </a:pPr>
            <a:r>
              <a:t>import pandas as pd</a:t>
            </a:r>
            <a:br/>
            <a:r>
              <a:t>from sklearn.model_selection import train_test_split</a:t>
            </a:r>
            <a:br/>
            <a:r>
              <a:t>from sklearn.ensemble import RandomForestClassifier</a:t>
            </a:r>
            <a:br/>
            <a:r>
              <a:t>from sklearn.metrics import accuracy_score</a:t>
            </a:r>
            <a:br/>
            <a:r>
              <a:t/>
            </a:r>
            <a:br/>
            <a:r>
              <a:t>df = pd.read_csv("iris.csv")</a:t>
            </a:r>
            <a:br/>
            <a:r>
              <a:t/>
            </a:r>
            <a:br/>
            <a:r>
              <a:t>X = df[["sepal_length", "sepal_width",</a:t>
            </a:r>
            <a:br/>
            <a:r>
              <a:t>        "petal_length", "petal_width"]]</a:t>
            </a:r>
            <a:br/>
            <a:r>
              <a:t>y = df["species"]</a:t>
            </a:r>
            <a:br/>
            <a:r>
              <a:t/>
            </a:r>
            <a:br/>
            <a:r>
              <a:t>X_train, X_test, y_train, y_test = train_test_split(</a:t>
            </a:r>
            <a:br/>
            <a:r>
              <a:t>    X, y, test_size=0.2, random_state=42, stratify=y</a:t>
            </a:r>
            <a:br/>
            <a:r>
              <a:t>)</a:t>
            </a:r>
            <a:br/>
            <a:r>
              <a:t/>
            </a:r>
            <a:br/>
            <a:r>
              <a:t>model = RandomForestClassifier(</a:t>
            </a:r>
            <a:br/>
            <a:r>
              <a:t>    n_estimators=100, random_state=42</a:t>
            </a:r>
            <a:br/>
            <a:r>
              <a:t>)</a:t>
            </a:r>
            <a:br/>
            <a:r>
              <a:t>model.fit(X_train, y_train)</a:t>
            </a:r>
            <a:br/>
            <a:r>
              <a:t/>
            </a:r>
            <a:br/>
            <a:r>
              <a:t>pred = model.predict(X_test)</a:t>
            </a:r>
            <a:br/>
            <a:r>
              <a:t>print("Accuracy:", accuracy_score(y_test, pred))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8368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Oracle Cloud Infrastructure • Training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3D"/>
                </a:solidFill>
              </a:defRPr>
            </a:pPr>
            <a:r>
              <a:t>Authentication from an OCI Data Science notebook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383280" cy="1417320"/>
          </a:xfrm>
          <a:prstGeom prst="roundRect">
            <a:avLst/>
          </a:prstGeom>
          <a:solidFill>
            <a:srgbClr val="E7F6EC"/>
          </a:solidFill>
          <a:ln>
            <a:solidFill>
              <a:srgbClr val="E7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389888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Option A — Resource Principal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783080"/>
            <a:ext cx="305409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226"/>
                </a:solidFill>
              </a:defRPr>
            </a:pPr>
            <a:r>
              <a:t>Best for OCI resources calling other OCI services. Avoids storing user API keys in notebooks.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383280" cy="1417320"/>
          </a:xfrm>
          <a:prstGeom prst="roundRect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53712" y="1389888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Option B — OCI 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783080"/>
            <a:ext cx="305409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226"/>
                </a:solidFill>
              </a:defRPr>
            </a:pPr>
            <a:r>
              <a:t>Useful for development or controlled demonstrations using an OCI API key profile.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383280" cy="1417320"/>
          </a:xfrm>
          <a:prstGeom prst="roundRect">
            <a:avLst/>
          </a:prstGeom>
          <a:solidFill>
            <a:srgbClr val="FCF1E0"/>
          </a:solidFill>
          <a:ln>
            <a:solidFill>
              <a:srgbClr val="F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2752" y="1389888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Option C — Vault / Secrets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783080"/>
            <a:ext cx="305409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226"/>
                </a:solidFill>
              </a:defRPr>
            </a:pPr>
            <a:r>
              <a:t>Store database passwords or other secrets in OCI Vault rather than hard-coding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63240"/>
            <a:ext cx="10881360" cy="2057400"/>
          </a:xfrm>
          <a:prstGeom prst="roundRect">
            <a:avLst/>
          </a:prstGeom>
          <a:solidFill>
            <a:srgbClr val="19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3227832"/>
            <a:ext cx="105156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BF0F5"/>
                </a:solidFill>
                <a:latin typeface="Consolas"/>
              </a:defRPr>
            </a:pPr>
            <a:r>
              <a:t>import oci</a:t>
            </a:r>
            <a:br/>
            <a:r>
              <a:t/>
            </a:r>
            <a:br/>
            <a:r>
              <a:t># Example: resource principal authentication</a:t>
            </a:r>
            <a:br/>
            <a:r>
              <a:t>signer = oci.auth.signers.get_resource_principals_signer()</a:t>
            </a:r>
            <a:br/>
            <a:r>
              <a:t/>
            </a:r>
            <a:br/>
            <a:r>
              <a:t># Pass signer into the OCI SDK client:</a:t>
            </a:r>
            <a:br/>
            <a:r>
              <a:t># client = SomeOciClient(config={}, signer=signer)</a:t>
            </a:r>
            <a:br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" y="5394960"/>
            <a:ext cx="10744200" cy="685800"/>
          </a:xfrm>
          <a:prstGeom prst="roundRect">
            <a:avLst/>
          </a:prstGeom>
          <a:solidFill>
            <a:srgbClr val="FCEBEB"/>
          </a:solidFill>
          <a:ln>
            <a:solidFill>
              <a:srgbClr val="FC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5504688"/>
            <a:ext cx="10415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Security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5897880"/>
            <a:ext cx="1041501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226"/>
                </a:solidFill>
              </a:defRPr>
            </a:pPr>
            <a:r>
              <a:t>Never put OCIs, private keys, database passwords or wallet passwords directly into source code that will be committed to Git.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658368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Oracle Cloud Infrastructure • Training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3D"/>
                </a:solidFill>
              </a:defRPr>
            </a:pPr>
            <a:r>
              <a:t>3. Connecting Python in OCI Data Science to Autonomous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6492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6"/>
                </a:solidFill>
              </a:defRPr>
            </a:pPr>
            <a:r>
              <a:t>Autonomous Database can act as the operational or analytical data source for your ML notebook.</a:t>
            </a:r>
          </a:p>
          <a:p>
            <a:pPr>
              <a:spcAft>
                <a:spcPts val="700"/>
              </a:spcAft>
              <a:defRPr sz="1500" b="0">
                <a:solidFill>
                  <a:srgbClr val="1E2226"/>
                </a:solidFill>
              </a:defRPr>
            </a:pPr>
            <a:r>
              <a:t>From the OCI Console, obtain the database connection information and download the wallet when wallet-based connectivity is required.</a:t>
            </a:r>
          </a:p>
          <a:p>
            <a:pPr>
              <a:spcAft>
                <a:spcPts val="700"/>
              </a:spcAft>
              <a:defRPr sz="1500" b="0">
                <a:solidFill>
                  <a:srgbClr val="1E2226"/>
                </a:solidFill>
              </a:defRPr>
            </a:pPr>
            <a:r>
              <a:t>Upload/extract the wallet in the notebook environment or use a controlled secret-management approach.</a:t>
            </a:r>
          </a:p>
          <a:p>
            <a:pPr>
              <a:spcAft>
                <a:spcPts val="700"/>
              </a:spcAft>
              <a:defRPr sz="1500" b="0">
                <a:solidFill>
                  <a:srgbClr val="1E2226"/>
                </a:solidFill>
              </a:defRPr>
            </a:pPr>
            <a:r>
              <a:t>Install/use the python-oracledb driver and connect with the appropriate service name (for example, a _high / _medium / _low service).</a:t>
            </a:r>
          </a:p>
          <a:p>
            <a:pPr>
              <a:spcAft>
                <a:spcPts val="700"/>
              </a:spcAft>
              <a:defRPr sz="1500" b="0">
                <a:solidFill>
                  <a:srgbClr val="1E2226"/>
                </a:solidFill>
              </a:defRPr>
            </a:pPr>
            <a:r>
              <a:t>Run SQL, load results into pandas, train the model, and optionally write predictions back to the database.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417320"/>
            <a:ext cx="3886200" cy="1051560"/>
          </a:xfrm>
          <a:prstGeom prst="roundRect">
            <a:avLst/>
          </a:prstGeom>
          <a:solidFill>
            <a:srgbClr val="E7F6EC"/>
          </a:solidFill>
          <a:ln>
            <a:solidFill>
              <a:srgbClr val="E7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25512" y="1527048"/>
            <a:ext cx="3557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OCI Data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5512" y="1920240"/>
            <a:ext cx="355701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226"/>
                </a:solidFill>
              </a:defRPr>
            </a:pPr>
            <a:r>
              <a:t>JupyterLab + 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2743200"/>
            <a:ext cx="3886200" cy="1051560"/>
          </a:xfrm>
          <a:prstGeom prst="roundRect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25512" y="2852928"/>
            <a:ext cx="3557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python-oracledb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5512" y="3246120"/>
            <a:ext cx="355701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226"/>
                </a:solidFill>
              </a:defRPr>
            </a:pPr>
            <a:r>
              <a:t>SQL / transactions / fetch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4069080"/>
            <a:ext cx="3886200" cy="1051560"/>
          </a:xfrm>
          <a:prstGeom prst="roundRect">
            <a:avLst/>
          </a:prstGeom>
          <a:solidFill>
            <a:srgbClr val="FCF1E0"/>
          </a:solidFill>
          <a:ln>
            <a:solidFill>
              <a:srgbClr val="F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25512" y="4178808"/>
            <a:ext cx="3557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Autonomous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4572000"/>
            <a:ext cx="355701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226"/>
                </a:solidFill>
              </a:defRPr>
            </a:pPr>
            <a:r>
              <a:t>Tables / views /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236208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Source / reference: Oracle documentation on Data Science notebooks and Autonomous Database connectivity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658368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Oracle Cloud Infrastructure • Training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3D"/>
                </a:solidFill>
              </a:defRPr>
            </a:pPr>
            <a:r>
              <a:t>OCI Console — Autonomous Database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Representative Oracle console screen; annotated for teaching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6583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6583680" cy="347472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30936" y="1298448"/>
            <a:ext cx="73152" cy="73152"/>
          </a:xfrm>
          <a:prstGeom prst="ellipse">
            <a:avLst/>
          </a:prstGeom>
          <a:solidFill>
            <a:srgbClr val="AAA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5528" y="1298448"/>
            <a:ext cx="73152" cy="73152"/>
          </a:xfrm>
          <a:prstGeom prst="ellipse">
            <a:avLst/>
          </a:prstGeom>
          <a:solidFill>
            <a:srgbClr val="AAA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1298448"/>
            <a:ext cx="73152" cy="73152"/>
          </a:xfrm>
          <a:prstGeom prst="ellipse">
            <a:avLst/>
          </a:prstGeom>
          <a:solidFill>
            <a:srgbClr val="AAA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61288" y="1252728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2D3D"/>
                </a:solidFill>
              </a:defRPr>
            </a:pPr>
            <a:r>
              <a:t>ORACLE Cloud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36192"/>
            <a:ext cx="1514246" cy="41788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691640"/>
            <a:ext cx="123992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850">
                <a:solidFill>
                  <a:srgbClr val="5F6973"/>
                </a:solidFill>
              </a:defRPr>
            </a:pPr>
            <a:r>
              <a:t>General information</a:t>
            </a:r>
          </a:p>
          <a:p>
            <a:pPr>
              <a:spcAft>
                <a:spcPts val="600"/>
              </a:spcAft>
              <a:defRPr sz="850">
                <a:solidFill>
                  <a:srgbClr val="5F6973"/>
                </a:solidFill>
              </a:defRPr>
            </a:pPr>
            <a:r>
              <a:t>Tools</a:t>
            </a:r>
          </a:p>
          <a:p>
            <a:pPr>
              <a:spcAft>
                <a:spcPts val="600"/>
              </a:spcAft>
              <a:defRPr sz="850">
                <a:solidFill>
                  <a:srgbClr val="5F6973"/>
                </a:solidFill>
              </a:defRPr>
            </a:pPr>
            <a:r>
              <a:t>Tags</a:t>
            </a:r>
          </a:p>
          <a:p>
            <a:pPr>
              <a:spcAft>
                <a:spcPts val="600"/>
              </a:spcAft>
              <a:defRPr sz="850">
                <a:solidFill>
                  <a:srgbClr val="5F6973"/>
                </a:solidFill>
              </a:defRPr>
            </a:pPr>
            <a:r>
              <a:t>DB Connection</a:t>
            </a:r>
          </a:p>
          <a:p>
            <a:pPr>
              <a:spcAft>
                <a:spcPts val="600"/>
              </a:spcAft>
              <a:defRPr sz="850">
                <a:solidFill>
                  <a:srgbClr val="5F6973"/>
                </a:solidFill>
              </a:defRPr>
            </a:pPr>
            <a:r>
              <a:t>Performance Hub</a:t>
            </a:r>
          </a:p>
          <a:p>
            <a:pPr>
              <a:spcAft>
                <a:spcPts val="600"/>
              </a:spcAft>
              <a:defRPr sz="850">
                <a:solidFill>
                  <a:srgbClr val="5F6973"/>
                </a:solidFill>
              </a:defRPr>
            </a:pPr>
            <a:r>
              <a:t>Service Console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81758" y="1664208"/>
            <a:ext cx="474939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</a:defRPr>
            </a:pPr>
            <a:r>
              <a:t>Autonomous Database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81758" y="2148840"/>
            <a:ext cx="1464259" cy="914400"/>
          </a:xfrm>
          <a:prstGeom prst="roundRect">
            <a:avLst/>
          </a:prstGeom>
          <a:solidFill>
            <a:srgbClr val="E7F6EC"/>
          </a:solidFill>
          <a:ln>
            <a:solidFill>
              <a:srgbClr val="E7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46350" y="2258568"/>
            <a:ext cx="11350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6350" y="2651760"/>
            <a:ext cx="11350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226"/>
                </a:solidFill>
              </a:defRPr>
            </a:pPr>
            <a:r>
              <a:t>AVAILABLE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55745" y="2148840"/>
            <a:ext cx="1464259" cy="914400"/>
          </a:xfrm>
          <a:prstGeom prst="roundRect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20337" y="2258568"/>
            <a:ext cx="11350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DB Connection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20337" y="2651760"/>
            <a:ext cx="11350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226"/>
                </a:solidFill>
              </a:defRPr>
            </a:pPr>
            <a:r>
              <a:t>Download wallet / connect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9732" y="2148840"/>
            <a:ext cx="1464259" cy="914400"/>
          </a:xfrm>
          <a:prstGeom prst="roundRect">
            <a:avLst/>
          </a:prstGeom>
          <a:solidFill>
            <a:srgbClr val="FCF1E0"/>
          </a:solidFill>
          <a:ln>
            <a:solidFill>
              <a:srgbClr val="F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94324" y="2258568"/>
            <a:ext cx="11350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Database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94324" y="2651760"/>
            <a:ext cx="11350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226"/>
                </a:solidFill>
              </a:defRPr>
            </a:pPr>
            <a:r>
              <a:t>SQL /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325880"/>
            <a:ext cx="4160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6"/>
                </a:solidFill>
              </a:defRPr>
            </a:pPr>
            <a:r>
              <a:t>Use DB Connection to access client connection information and wallet options.</a:t>
            </a:r>
          </a:p>
          <a:p>
            <a:pPr>
              <a:spcAft>
                <a:spcPts val="700"/>
              </a:spcAft>
              <a:defRPr sz="1300" b="0">
                <a:solidFill>
                  <a:srgbClr val="1E2226"/>
                </a:solidFill>
              </a:defRPr>
            </a:pPr>
            <a:r>
              <a:t>The wallet contains connection metadata required for secure client connectivity.</a:t>
            </a:r>
          </a:p>
          <a:p>
            <a:pPr>
              <a:spcAft>
                <a:spcPts val="700"/>
              </a:spcAft>
              <a:defRPr sz="1300" b="0">
                <a:solidFill>
                  <a:srgbClr val="1E2226"/>
                </a:solidFill>
              </a:defRPr>
            </a:pPr>
            <a:r>
              <a:t>Database Actions can be used for SQL and database administration tasks in the browser.</a:t>
            </a:r>
          </a:p>
          <a:p>
            <a:pPr>
              <a:spcAft>
                <a:spcPts val="700"/>
              </a:spcAft>
              <a:defRPr sz="1300" b="0">
                <a:solidFill>
                  <a:srgbClr val="1E2226"/>
                </a:solidFill>
              </a:defRPr>
            </a:pPr>
            <a:r>
              <a:t>Do not place wallet files or passwords into public repositories.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236208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Source / reference: Oracle documentation — Autonomous Database details / DB Connection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658368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Oracle Cloud Infrastructure • Training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3D"/>
                </a:solidFill>
              </a:defRPr>
            </a:pPr>
            <a:r>
              <a:t>Python connection using python-oracledb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881360" cy="5074920"/>
          </a:xfrm>
          <a:prstGeom prst="roundRect">
            <a:avLst/>
          </a:prstGeom>
          <a:solidFill>
            <a:srgbClr val="19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216151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30">
                <a:solidFill>
                  <a:srgbClr val="EBF0F5"/>
                </a:solidFill>
                <a:latin typeface="Consolas"/>
              </a:defRPr>
            </a:pPr>
            <a:r>
              <a:t>import oracledb</a:t>
            </a:r>
            <a:br/>
            <a:r>
              <a:t>import os</a:t>
            </a:r>
            <a:br/>
            <a:r>
              <a:t/>
            </a:r>
            <a:br/>
            <a:r>
              <a:t>wallet_dir = "/home/datascience/wallet_adb"</a:t>
            </a:r>
            <a:br/>
            <a:r>
              <a:t/>
            </a:r>
            <a:br/>
            <a:r>
              <a:t># The extracted wallet directory contains tnsnames.ora</a:t>
            </a:r>
            <a:br/>
            <a:r>
              <a:t># and other connection files supplied by Autonomous Database.</a:t>
            </a:r>
            <a:br/>
            <a:r>
              <a:t/>
            </a:r>
            <a:br/>
            <a:r>
              <a:t>connection = oracledb.connect(</a:t>
            </a:r>
            <a:br/>
            <a:r>
              <a:t>    user=os.environ["ADB_USER"],</a:t>
            </a:r>
            <a:br/>
            <a:r>
              <a:t>    password=os.environ["ADB_PASSWORD"],</a:t>
            </a:r>
            <a:br/>
            <a:r>
              <a:t>    dsn="myadb_high",</a:t>
            </a:r>
            <a:br/>
            <a:r>
              <a:t>    config_dir=wallet_dir,</a:t>
            </a:r>
            <a:br/>
            <a:r>
              <a:t>    wallet_location=wallet_dir,</a:t>
            </a:r>
            <a:br/>
            <a:r>
              <a:t>    wallet_password=os.environ["ADB_WALLET_PASSWORD"]</a:t>
            </a:r>
            <a:br/>
            <a:r>
              <a:t>)</a:t>
            </a:r>
            <a:br/>
            <a:r>
              <a:t/>
            </a:r>
            <a:br/>
            <a:r>
              <a:t>print("Connected:", connection.version)</a:t>
            </a:r>
            <a:br/>
            <a:r>
              <a:t/>
            </a:r>
            <a:br/>
            <a:r>
              <a:t>cursor = connection.cursor()</a:t>
            </a:r>
            <a:br/>
            <a:r>
              <a:t>cursor.execute("""</a:t>
            </a:r>
            <a:br/>
            <a:r>
              <a:t>    SELECT employee_id, salary</a:t>
            </a:r>
            <a:br/>
            <a:r>
              <a:t>    FROM employees</a:t>
            </a:r>
            <a:br/>
            <a:r>
              <a:t>    FETCH FIRST 10 ROWS ONLY</a:t>
            </a:r>
            <a:br/>
            <a:r>
              <a:t>""")</a:t>
            </a:r>
            <a:br/>
            <a:r>
              <a:t/>
            </a:r>
            <a:br/>
            <a:r>
              <a:t>for row in cursor:</a:t>
            </a:r>
            <a:br/>
            <a:r>
              <a:t>    print(row)</a:t>
            </a:r>
            <a:br/>
            <a:r>
              <a:t/>
            </a:r>
            <a:br/>
            <a:r>
              <a:t>cursor.close()</a:t>
            </a:r>
            <a:br/>
            <a:r>
              <a:t>connection.close()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8368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Oracle Cloud Infrastructure • Training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3D"/>
                </a:solidFill>
              </a:defRPr>
            </a:pPr>
            <a:r>
              <a:t>ADB connectivity — security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2226"/>
                </a:solidFill>
              </a:defRPr>
            </a:pPr>
            <a:r>
              <a:t>Use least-privilege database users. Create a dedicated ML user rather than using ADMIN.</a:t>
            </a:r>
          </a:p>
          <a:p>
            <a:pPr>
              <a:spcAft>
                <a:spcPts val="700"/>
              </a:spcAft>
              <a:defRPr sz="1600" b="0">
                <a:solidFill>
                  <a:srgbClr val="1E2226"/>
                </a:solidFill>
              </a:defRPr>
            </a:pPr>
            <a:r>
              <a:t>Keep wallet and password material outside source code.</a:t>
            </a:r>
          </a:p>
          <a:p>
            <a:pPr>
              <a:spcAft>
                <a:spcPts val="700"/>
              </a:spcAft>
              <a:defRPr sz="1600" b="0">
                <a:solidFill>
                  <a:srgbClr val="1E2226"/>
                </a:solidFill>
              </a:defRPr>
            </a:pPr>
            <a:r>
              <a:t>Prefer OCI Vault / secret-management mechanisms for credentials.</a:t>
            </a:r>
          </a:p>
          <a:p>
            <a:pPr>
              <a:spcAft>
                <a:spcPts val="700"/>
              </a:spcAft>
              <a:defRPr sz="1600" b="0">
                <a:solidFill>
                  <a:srgbClr val="1E2226"/>
                </a:solidFill>
              </a:defRPr>
            </a:pPr>
            <a:r>
              <a:t>Use private endpoints and controlled network paths where your security architecture requires them.</a:t>
            </a:r>
          </a:p>
          <a:p>
            <a:pPr>
              <a:spcAft>
                <a:spcPts val="700"/>
              </a:spcAft>
              <a:defRPr sz="1600" b="0">
                <a:solidFill>
                  <a:srgbClr val="1E2226"/>
                </a:solidFill>
              </a:defRPr>
            </a:pPr>
            <a:r>
              <a:t>Rotate credentials and wallets according to your organization's policy.</a:t>
            </a:r>
          </a:p>
          <a:p>
            <a:pPr>
              <a:spcAft>
                <a:spcPts val="700"/>
              </a:spcAft>
              <a:defRPr sz="1600" b="0">
                <a:solidFill>
                  <a:srgbClr val="1E2226"/>
                </a:solidFill>
              </a:defRPr>
            </a:pPr>
            <a:r>
              <a:t>Close cursors/connections or use context managers to avoid connection leaks.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440680"/>
            <a:ext cx="10515600" cy="640080"/>
          </a:xfrm>
          <a:prstGeom prst="roundRect">
            <a:avLst/>
          </a:prstGeom>
          <a:solidFill>
            <a:srgbClr val="FCEBEB"/>
          </a:solidFill>
          <a:ln>
            <a:solidFill>
              <a:srgbClr val="FC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5550408"/>
            <a:ext cx="10186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Common failure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943600"/>
            <a:ext cx="10186416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226"/>
                </a:solidFill>
              </a:defRPr>
            </a:pPr>
            <a:r>
              <a:t>Wrong wallet path • wrong service name • network/VCN rules • database user privileges • wallet password mismatch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Oracle Cloud Infrastructure • Training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3D"/>
                </a:solidFill>
              </a:defRPr>
            </a:pPr>
            <a:r>
              <a:t>4. Deploy ML models in OCI —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691640" cy="1828800"/>
          </a:xfrm>
          <a:prstGeom prst="roundRect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1938528"/>
            <a:ext cx="1362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1. Train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331720"/>
            <a:ext cx="13624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226"/>
                </a:solidFill>
              </a:defRPr>
            </a:pPr>
            <a:r>
              <a:t>Notebook /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1991" y="242316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466AD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828800"/>
            <a:ext cx="1691640" cy="1828800"/>
          </a:xfrm>
          <a:prstGeom prst="roundRect">
            <a:avLst/>
          </a:prstGeom>
          <a:solidFill>
            <a:srgbClr val="E7F6EC"/>
          </a:solidFill>
          <a:ln>
            <a:solidFill>
              <a:srgbClr val="E7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87752" y="1938528"/>
            <a:ext cx="1362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2. Package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7752" y="2331720"/>
            <a:ext cx="13624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226"/>
                </a:solidFill>
              </a:defRPr>
            </a:pPr>
            <a:r>
              <a:t>score.py + runtime.yaml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2232" y="242316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466AD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1691640" cy="1828800"/>
          </a:xfrm>
          <a:prstGeom prst="roundRect">
            <a:avLst/>
          </a:prstGeom>
          <a:solidFill>
            <a:srgbClr val="FCF1E0"/>
          </a:solidFill>
          <a:ln>
            <a:solidFill>
              <a:srgbClr val="F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938528"/>
            <a:ext cx="1362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3. Catalog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331720"/>
            <a:ext cx="13624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226"/>
                </a:solidFill>
              </a:defRPr>
            </a:pPr>
            <a:r>
              <a:t>Model Catalog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2472" y="242316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466AD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28800"/>
            <a:ext cx="1691640" cy="1828800"/>
          </a:xfrm>
          <a:prstGeom prst="roundRect">
            <a:avLst/>
          </a:prstGeom>
          <a:solidFill>
            <a:srgbClr val="FCEBEB"/>
          </a:solidFill>
          <a:ln>
            <a:solidFill>
              <a:srgbClr val="FC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2" y="1938528"/>
            <a:ext cx="1362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4.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331720"/>
            <a:ext cx="13624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226"/>
                </a:solidFill>
              </a:defRPr>
            </a:pPr>
            <a:r>
              <a:t>Model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242316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466AD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1828800"/>
            <a:ext cx="1691640" cy="1828800"/>
          </a:xfrm>
          <a:prstGeom prst="roundRect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48472" y="1938528"/>
            <a:ext cx="1362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5. Invoke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31720"/>
            <a:ext cx="13624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226"/>
                </a:solidFill>
              </a:defRPr>
            </a:pPr>
            <a:r>
              <a:t>HTTPS / REST endpoint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2952" y="242316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466AD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1828800"/>
            <a:ext cx="1691640" cy="1828800"/>
          </a:xfrm>
          <a:prstGeom prst="roundRect">
            <a:avLst/>
          </a:prstGeom>
          <a:solidFill>
            <a:srgbClr val="E7F6EC"/>
          </a:solidFill>
          <a:ln>
            <a:solidFill>
              <a:srgbClr val="E7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268712" y="1938528"/>
            <a:ext cx="1362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6. Monitor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68712" y="2331720"/>
            <a:ext cx="13624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226"/>
                </a:solidFill>
              </a:defRPr>
            </a:pPr>
            <a:r>
              <a:t>Logs + metrics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251960"/>
            <a:ext cx="10607040" cy="1097280"/>
          </a:xfrm>
          <a:prstGeom prst="roundRect">
            <a:avLst/>
          </a:prstGeom>
          <a:solidFill>
            <a:srgbClr val="F3F5F7"/>
          </a:solidFill>
          <a:ln>
            <a:solidFill>
              <a:srgbClr val="F3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4361688"/>
            <a:ext cx="10277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Core OCI concept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4754880"/>
            <a:ext cx="10277856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2226"/>
                </a:solidFill>
              </a:defRPr>
            </a:pPr>
            <a:r>
              <a:t>A Model Deployment is a managed OCI Data Science resource that exposes a model as an HTTP endpoint for real-time inference.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236208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Source / reference: Oracle Documentation — Model Deployments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658368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Oracle Cloud Infrastructure • Training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3D"/>
                </a:solidFill>
              </a:defRPr>
            </a:pPr>
            <a:r>
              <a:t>Example score.py for a scikit-learn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10881360" cy="4160520"/>
          </a:xfrm>
          <a:prstGeom prst="roundRect">
            <a:avLst/>
          </a:prstGeom>
          <a:solidFill>
            <a:srgbClr val="19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307592"/>
            <a:ext cx="105156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EBF0F5"/>
                </a:solidFill>
                <a:latin typeface="Consolas"/>
              </a:defRPr>
            </a:pPr>
            <a:r>
              <a:t>import joblib</a:t>
            </a:r>
            <a:br/>
            <a:r>
              <a:t>import json</a:t>
            </a:r>
            <a:br/>
            <a:r>
              <a:t>import os</a:t>
            </a:r>
            <a:br/>
            <a:r>
              <a:t>import numpy as np</a:t>
            </a:r>
            <a:br/>
            <a:r>
              <a:t/>
            </a:r>
            <a:br/>
            <a:r>
              <a:t>model = None</a:t>
            </a:r>
            <a:br/>
            <a:r>
              <a:t/>
            </a:r>
            <a:br/>
            <a:r>
              <a:t>def load_model():</a:t>
            </a:r>
            <a:br/>
            <a:r>
              <a:t>    global model</a:t>
            </a:r>
            <a:br/>
            <a:r>
              <a:t>    model_path = os.path.join(</a:t>
            </a:r>
            <a:br/>
            <a:r>
              <a:t>        os.path.dirname(__file__), "model.joblib"</a:t>
            </a:r>
            <a:br/>
            <a:r>
              <a:t>    )</a:t>
            </a:r>
            <a:br/>
            <a:r>
              <a:t>    model = joblib.load(model_path)</a:t>
            </a:r>
            <a:br/>
            <a:r>
              <a:t/>
            </a:r>
            <a:br/>
            <a:r>
              <a:t>def predict(data):</a:t>
            </a:r>
            <a:br/>
            <a:r>
              <a:t>    # data is received from the model endpoint</a:t>
            </a:r>
            <a:br/>
            <a:r>
              <a:t>    X = np.asarray(data["features"])</a:t>
            </a:r>
            <a:br/>
            <a:r>
              <a:t>    prediction = model.predict(X)</a:t>
            </a:r>
            <a:br/>
            <a:r>
              <a:t>    return {"predictions": prediction.tolist()}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486400"/>
            <a:ext cx="10698480" cy="640080"/>
          </a:xfrm>
          <a:prstGeom prst="roundRect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5596128"/>
            <a:ext cx="103692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Explain to learners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5989320"/>
            <a:ext cx="10369296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226"/>
                </a:solidFill>
              </a:defRPr>
            </a:pPr>
            <a:r>
              <a:t>load_model() runs when the model server loads the artifact; predict() is the business-facing inference function invoked for a request.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658368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Oracle Cloud Infrastructure • Training presentation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3D"/>
                </a:solidFill>
              </a:defRPr>
            </a:pPr>
            <a:r>
              <a:t>OCI Console — Model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Representative annotated portal view based on Oracle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629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6629400" cy="347472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30936" y="1252728"/>
            <a:ext cx="73152" cy="73152"/>
          </a:xfrm>
          <a:prstGeom prst="ellipse">
            <a:avLst/>
          </a:prstGeom>
          <a:solidFill>
            <a:srgbClr val="AAA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5528" y="1252728"/>
            <a:ext cx="73152" cy="73152"/>
          </a:xfrm>
          <a:prstGeom prst="ellipse">
            <a:avLst/>
          </a:prstGeom>
          <a:solidFill>
            <a:srgbClr val="AAA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1252728"/>
            <a:ext cx="73152" cy="73152"/>
          </a:xfrm>
          <a:prstGeom prst="ellipse">
            <a:avLst/>
          </a:prstGeom>
          <a:solidFill>
            <a:srgbClr val="AAA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61288" y="1207008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2D3D"/>
                </a:solidFill>
              </a:defRPr>
            </a:pPr>
            <a:r>
              <a:t>ORACLE Cloud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90472"/>
            <a:ext cx="1524762" cy="422452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645920"/>
            <a:ext cx="1250442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850">
                <a:solidFill>
                  <a:srgbClr val="5F6973"/>
                </a:solidFill>
              </a:defRPr>
            </a:pPr>
            <a:r>
              <a:t>General information</a:t>
            </a:r>
          </a:p>
          <a:p>
            <a:pPr>
              <a:spcAft>
                <a:spcPts val="600"/>
              </a:spcAft>
              <a:defRPr sz="850">
                <a:solidFill>
                  <a:srgbClr val="5F6973"/>
                </a:solidFill>
              </a:defRPr>
            </a:pPr>
            <a:r>
              <a:t>Models</a:t>
            </a:r>
          </a:p>
          <a:p>
            <a:pPr>
              <a:spcAft>
                <a:spcPts val="600"/>
              </a:spcAft>
              <a:defRPr sz="850">
                <a:solidFill>
                  <a:srgbClr val="5F6973"/>
                </a:solidFill>
              </a:defRPr>
            </a:pPr>
            <a:r>
              <a:t>Configuration</a:t>
            </a:r>
          </a:p>
          <a:p>
            <a:pPr>
              <a:spcAft>
                <a:spcPts val="600"/>
              </a:spcAft>
              <a:defRPr sz="850">
                <a:solidFill>
                  <a:srgbClr val="5F6973"/>
                </a:solidFill>
              </a:defRPr>
            </a:pPr>
            <a:r>
              <a:t>Metrics</a:t>
            </a:r>
          </a:p>
          <a:p>
            <a:pPr>
              <a:spcAft>
                <a:spcPts val="600"/>
              </a:spcAft>
              <a:defRPr sz="850">
                <a:solidFill>
                  <a:srgbClr val="5F6973"/>
                </a:solidFill>
              </a:defRPr>
            </a:pPr>
            <a:r>
              <a:t>Logs</a:t>
            </a:r>
          </a:p>
          <a:p>
            <a:pPr>
              <a:spcAft>
                <a:spcPts val="600"/>
              </a:spcAft>
              <a:defRPr sz="850">
                <a:solidFill>
                  <a:srgbClr val="5F6973"/>
                </a:solidFill>
              </a:defRPr>
            </a:pPr>
            <a:r>
              <a:t>Invoking your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2274" y="1618488"/>
            <a:ext cx="478459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</a:defRPr>
            </a:pPr>
            <a:r>
              <a:t>Model Deployment information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2274" y="2103120"/>
            <a:ext cx="1475993" cy="914400"/>
          </a:xfrm>
          <a:prstGeom prst="roundRect">
            <a:avLst/>
          </a:prstGeom>
          <a:solidFill>
            <a:srgbClr val="E7F6EC"/>
          </a:solidFill>
          <a:ln>
            <a:solidFill>
              <a:srgbClr val="E7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56866" y="2212848"/>
            <a:ext cx="114680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Deployed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6866" y="2606039"/>
            <a:ext cx="11468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226"/>
                </a:solidFill>
              </a:defRPr>
            </a:pPr>
            <a:r>
              <a:t>Model Catalog artifact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77996" y="2103120"/>
            <a:ext cx="1475993" cy="914400"/>
          </a:xfrm>
          <a:prstGeom prst="roundRect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42588" y="2212848"/>
            <a:ext cx="114680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Endpoint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42588" y="2606039"/>
            <a:ext cx="11468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226"/>
                </a:solidFill>
              </a:defRPr>
            </a:pPr>
            <a:r>
              <a:t>HTTPS inference URL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63717" y="2103120"/>
            <a:ext cx="1475993" cy="914400"/>
          </a:xfrm>
          <a:prstGeom prst="roundRect">
            <a:avLst/>
          </a:prstGeom>
          <a:solidFill>
            <a:srgbClr val="FCF1E0"/>
          </a:solidFill>
          <a:ln>
            <a:solidFill>
              <a:srgbClr val="F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28309" y="2212848"/>
            <a:ext cx="114680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Shape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8309" y="2606039"/>
            <a:ext cx="11468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226"/>
                </a:solidFill>
              </a:defRPr>
            </a:pPr>
            <a:r>
              <a:t>CPU /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128016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6"/>
                </a:solidFill>
              </a:defRPr>
            </a:pPr>
            <a:r>
              <a:t>Choose the model artifact from Model Catalog.</a:t>
            </a:r>
          </a:p>
          <a:p>
            <a:pPr>
              <a:spcAft>
                <a:spcPts val="700"/>
              </a:spcAft>
              <a:defRPr sz="1300" b="0">
                <a:solidFill>
                  <a:srgbClr val="1E2226"/>
                </a:solidFill>
              </a:defRPr>
            </a:pPr>
            <a:r>
              <a:t>Select compute shape and networking.</a:t>
            </a:r>
          </a:p>
          <a:p>
            <a:pPr>
              <a:spcAft>
                <a:spcPts val="700"/>
              </a:spcAft>
              <a:defRPr sz="1300" b="0">
                <a:solidFill>
                  <a:srgbClr val="1E2226"/>
                </a:solidFill>
              </a:defRPr>
            </a:pPr>
            <a:r>
              <a:t>Configure the inference environment defined by the model artifact.</a:t>
            </a:r>
          </a:p>
          <a:p>
            <a:pPr>
              <a:spcAft>
                <a:spcPts val="700"/>
              </a:spcAft>
              <a:defRPr sz="1300" b="0">
                <a:solidFill>
                  <a:srgbClr val="1E2226"/>
                </a:solidFill>
              </a:defRPr>
            </a:pPr>
            <a:r>
              <a:t>After activation, OCI provides an HTTPS endpoint.</a:t>
            </a:r>
          </a:p>
          <a:p>
            <a:pPr>
              <a:spcAft>
                <a:spcPts val="700"/>
              </a:spcAft>
              <a:defRPr sz="1300" b="0">
                <a:solidFill>
                  <a:srgbClr val="1E2226"/>
                </a:solidFill>
              </a:defRPr>
            </a:pPr>
            <a:r>
              <a:t>Use the Invoking your model area to test the endpoint and obtain invocation examples.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236208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Source / reference: Oracle Learn — Enterprise chatbot with OCI Data Science model deployment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658368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Oracle Cloud Infrastructure • Training presentation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3D"/>
                </a:solidFill>
              </a:defRPr>
            </a:pPr>
            <a:r>
              <a:t>Invoke the deployed model from Python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881360" cy="3931920"/>
          </a:xfrm>
          <a:prstGeom prst="roundRect">
            <a:avLst/>
          </a:prstGeom>
          <a:solidFill>
            <a:srgbClr val="19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399032"/>
            <a:ext cx="10515600" cy="3611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BF0F5"/>
                </a:solidFill>
                <a:latin typeface="Consolas"/>
              </a:defRPr>
            </a:pPr>
            <a:r>
              <a:t>import requests</a:t>
            </a:r>
            <a:br/>
            <a:r>
              <a:t/>
            </a:r>
            <a:br/>
            <a:r>
              <a:t>endpoint = "https://&lt;model-deployment-endpoint&gt;/predict"</a:t>
            </a:r>
            <a:br/>
            <a:r>
              <a:t/>
            </a:r>
            <a:br/>
            <a:r>
              <a:t>payload = {</a:t>
            </a:r>
            <a:br/>
            <a:r>
              <a:t>    "features": [</a:t>
            </a:r>
            <a:br/>
            <a:r>
              <a:t>        [5.1, 3.5, 1.4, 0.2],</a:t>
            </a:r>
            <a:br/>
            <a:r>
              <a:t>        [6.7, 3.1, 4.4, 1.4]</a:t>
            </a:r>
            <a:br/>
            <a:r>
              <a:t>    ]</a:t>
            </a:r>
            <a:br/>
            <a:r>
              <a:t>}</a:t>
            </a:r>
            <a:br/>
            <a:r>
              <a:t/>
            </a:r>
            <a:br/>
            <a:r>
              <a:t>response = requests.post(</a:t>
            </a:r>
            <a:br/>
            <a:r>
              <a:t>    endpoint,</a:t>
            </a:r>
            <a:br/>
            <a:r>
              <a:t>    json=payload,</a:t>
            </a:r>
            <a:br/>
            <a:r>
              <a:t>    timeout=30</a:t>
            </a:r>
            <a:br/>
            <a:r>
              <a:t>)</a:t>
            </a:r>
            <a:br/>
            <a:r>
              <a:t/>
            </a:r>
            <a:br/>
            <a:r>
              <a:t>response.raise_for_status()</a:t>
            </a:r>
            <a:br/>
            <a:r>
              <a:t>print(response.json())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440680"/>
            <a:ext cx="10698480" cy="822960"/>
          </a:xfrm>
          <a:prstGeom prst="roundRect">
            <a:avLst/>
          </a:prstGeom>
          <a:solidFill>
            <a:srgbClr val="FCEBEB"/>
          </a:solidFill>
          <a:ln>
            <a:solidFill>
              <a:srgbClr val="FC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5550408"/>
            <a:ext cx="103692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Production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5943600"/>
            <a:ext cx="103692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226"/>
                </a:solidFill>
              </a:defRPr>
            </a:pPr>
            <a:r>
              <a:t>Authenticate the request according to your endpoint configuration and OCI IAM/networking design. Do not treat a public URL as anonymous access by default.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658368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Oracle Cloud Infrastructure • Training presentation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3D"/>
                </a:solidFill>
              </a:defRPr>
            </a:pPr>
            <a:r>
              <a:t>Model Deployment — networking, scale and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383280" cy="1828800"/>
          </a:xfrm>
          <a:prstGeom prst="roundRect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389888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Networking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783080"/>
            <a:ext cx="305409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226"/>
                </a:solidFill>
              </a:defRPr>
            </a:pPr>
            <a:r>
              <a:t>Service-managed networking can be used with or without internet access. Custom networking can place the deployment into a customer-managed VCN/subnet.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383280" cy="1828800"/>
          </a:xfrm>
          <a:prstGeom prst="roundRect">
            <a:avLst/>
          </a:prstGeom>
          <a:solidFill>
            <a:srgbClr val="E7F6EC"/>
          </a:solidFill>
          <a:ln>
            <a:solidFill>
              <a:srgbClr val="E7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53712" y="1389888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Compute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783080"/>
            <a:ext cx="305409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226"/>
                </a:solidFill>
              </a:defRPr>
            </a:pPr>
            <a:r>
              <a:t>Select a VM shape large enough for the model replicas. Multiple smaller instances can be preferable to one very large instance depending on the workload.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383280" cy="1828800"/>
          </a:xfrm>
          <a:prstGeom prst="roundRect">
            <a:avLst/>
          </a:prstGeom>
          <a:solidFill>
            <a:srgbClr val="FCF1E0"/>
          </a:solidFill>
          <a:ln>
            <a:solidFill>
              <a:srgbClr val="F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2752" y="1389888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Load balancing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783080"/>
            <a:ext cx="305409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226"/>
                </a:solidFill>
              </a:defRPr>
            </a:pPr>
            <a:r>
              <a:t>The model endpoint distributes requests among available model replicas for real-time inference.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3383280" cy="1828800"/>
          </a:xfrm>
          <a:prstGeom prst="roundRect">
            <a:avLst/>
          </a:prstGeom>
          <a:solidFill>
            <a:srgbClr val="F3F5F7"/>
          </a:solidFill>
          <a:ln>
            <a:solidFill>
              <a:srgbClr val="F3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1" y="3584448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977639"/>
            <a:ext cx="305409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226"/>
                </a:solidFill>
              </a:defRPr>
            </a:pPr>
            <a:r>
              <a:t>Enable logging to troubleshoot deployment and inference problems.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474720"/>
            <a:ext cx="3383280" cy="1828800"/>
          </a:xfrm>
          <a:prstGeom prst="roundRect">
            <a:avLst/>
          </a:prstGeom>
          <a:solidFill>
            <a:srgbClr val="FCEBEB"/>
          </a:solidFill>
          <a:ln>
            <a:solidFill>
              <a:srgbClr val="FC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53712" y="3584448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IAM / policies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3977639"/>
            <a:ext cx="305409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226"/>
                </a:solidFill>
              </a:defRPr>
            </a:pPr>
            <a:r>
              <a:t>The user and resources need permissions for model catalog, deployment, networking and related services.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474720"/>
            <a:ext cx="3383280" cy="1828800"/>
          </a:xfrm>
          <a:prstGeom prst="roundRect">
            <a:avLst/>
          </a:prstGeom>
          <a:solidFill>
            <a:srgbClr val="E7F6EC"/>
          </a:solidFill>
          <a:ln>
            <a:solidFill>
              <a:srgbClr val="E7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3584448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Cost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977639"/>
            <a:ext cx="305409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226"/>
                </a:solidFill>
              </a:defRPr>
            </a:pPr>
            <a:r>
              <a:t>Deactivate notebook sessions when not in use and size compute based on actual inference/training needs.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236208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Source / reference: Oracle Documentation — Model Deployment and Notebook Session guidance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658368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Oracle Cloud Infrastructure • Training presentation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3D"/>
                </a:solidFill>
              </a:defRPr>
            </a:pPr>
            <a:r>
              <a:t>Mini project: Iris ML API on OCI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6400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6"/>
                </a:solidFill>
              </a:defRPr>
            </a:pPr>
            <a:r>
              <a:t>1. Store Iris data in Autonomous Database.</a:t>
            </a:r>
          </a:p>
          <a:p>
            <a:pPr>
              <a:spcAft>
                <a:spcPts val="700"/>
              </a:spcAft>
              <a:defRPr sz="1500" b="0">
                <a:solidFill>
                  <a:srgbClr val="1E2226"/>
                </a:solidFill>
              </a:defRPr>
            </a:pPr>
            <a:r>
              <a:t>2. Create an OCI Data Science Project and Notebook Session.</a:t>
            </a:r>
          </a:p>
          <a:p>
            <a:pPr>
              <a:spcAft>
                <a:spcPts val="700"/>
              </a:spcAft>
              <a:defRPr sz="1500" b="0">
                <a:solidFill>
                  <a:srgbClr val="1E2226"/>
                </a:solidFill>
              </a:defRPr>
            </a:pPr>
            <a:r>
              <a:t>3. Connect with python-oracledb and load the table into pandas.</a:t>
            </a:r>
          </a:p>
          <a:p>
            <a:pPr>
              <a:spcAft>
                <a:spcPts val="700"/>
              </a:spcAft>
              <a:defRPr sz="1500" b="0">
                <a:solidFill>
                  <a:srgbClr val="1E2226"/>
                </a:solidFill>
              </a:defRPr>
            </a:pPr>
            <a:r>
              <a:t>4. Train RandomForestClassifier and evaluate accuracy.</a:t>
            </a:r>
          </a:p>
          <a:p>
            <a:pPr>
              <a:spcAft>
                <a:spcPts val="700"/>
              </a:spcAft>
              <a:defRPr sz="1500" b="0">
                <a:solidFill>
                  <a:srgbClr val="1E2226"/>
                </a:solidFill>
              </a:defRPr>
            </a:pPr>
            <a:r>
              <a:t>5. Serialize with joblib and create score.py + runtime.yaml.</a:t>
            </a:r>
          </a:p>
          <a:p>
            <a:pPr>
              <a:spcAft>
                <a:spcPts val="700"/>
              </a:spcAft>
              <a:defRPr sz="1500" b="0">
                <a:solidFill>
                  <a:srgbClr val="1E2226"/>
                </a:solidFill>
              </a:defRPr>
            </a:pPr>
            <a:r>
              <a:t>6. Save the artifact to Model Catalog.</a:t>
            </a:r>
          </a:p>
          <a:p>
            <a:pPr>
              <a:spcAft>
                <a:spcPts val="700"/>
              </a:spcAft>
              <a:defRPr sz="1500" b="0">
                <a:solidFill>
                  <a:srgbClr val="1E2226"/>
                </a:solidFill>
              </a:defRPr>
            </a:pPr>
            <a:r>
              <a:t>7. Create a Model Deployment and test the HTTPS endpoint.</a:t>
            </a:r>
          </a:p>
          <a:p>
            <a:pPr>
              <a:spcAft>
                <a:spcPts val="700"/>
              </a:spcAft>
              <a:defRPr sz="1500" b="0">
                <a:solidFill>
                  <a:srgbClr val="1E2226"/>
                </a:solidFill>
              </a:defRPr>
            </a:pPr>
            <a:r>
              <a:t>8. Call the endpoint from a Python client and display the predicted species.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325880"/>
            <a:ext cx="3840480" cy="1005840"/>
          </a:xfrm>
          <a:prstGeom prst="roundRect">
            <a:avLst/>
          </a:prstGeom>
          <a:solidFill>
            <a:srgbClr val="FCF1E0"/>
          </a:solidFill>
          <a:ln>
            <a:solidFill>
              <a:srgbClr val="F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71231" y="1435607"/>
            <a:ext cx="35112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71231" y="1828800"/>
            <a:ext cx="3511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226"/>
                </a:solidFill>
              </a:defRPr>
            </a:pPr>
            <a:r>
              <a:t>ML_IRIS_DATA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2606040"/>
            <a:ext cx="3840480" cy="1005840"/>
          </a:xfrm>
          <a:prstGeom prst="roundRect">
            <a:avLst/>
          </a:prstGeom>
          <a:solidFill>
            <a:srgbClr val="E7F6EC"/>
          </a:solidFill>
          <a:ln>
            <a:solidFill>
              <a:srgbClr val="E7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71231" y="2715768"/>
            <a:ext cx="35112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Notebook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1231" y="3108960"/>
            <a:ext cx="3511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226"/>
                </a:solidFill>
              </a:defRPr>
            </a:pPr>
            <a:r>
              <a:t>train.py / notebook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886200"/>
            <a:ext cx="3840480" cy="1005840"/>
          </a:xfrm>
          <a:prstGeom prst="roundRect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71231" y="3995928"/>
            <a:ext cx="35112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Model 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1" y="4389120"/>
            <a:ext cx="3511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226"/>
                </a:solidFill>
              </a:defRPr>
            </a:pPr>
            <a:r>
              <a:t>iris-model:1.0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5166360"/>
            <a:ext cx="3840480" cy="640080"/>
          </a:xfrm>
          <a:prstGeom prst="roundRect">
            <a:avLst/>
          </a:prstGeom>
          <a:solidFill>
            <a:srgbClr val="FCEBEB"/>
          </a:solidFill>
          <a:ln>
            <a:solidFill>
              <a:srgbClr val="FC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71231" y="5276088"/>
            <a:ext cx="35112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1" y="5669280"/>
            <a:ext cx="3511296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226"/>
                </a:solidFill>
              </a:defRPr>
            </a:pPr>
            <a:r>
              <a:t>/predict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658368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Oracle Cloud Infrastructure • Training presentation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3D"/>
                </a:solidFill>
              </a:defRPr>
            </a:pPr>
            <a:r>
              <a:t>Which OCI service should I choose?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200400" cy="713232"/>
          </a:xfrm>
          <a:prstGeom prst="roundRect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344168"/>
            <a:ext cx="2871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Need OCR / image / speech / text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1234440"/>
            <a:ext cx="2514600" cy="713232"/>
          </a:xfrm>
          <a:prstGeom prst="roundRect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42231" y="1344168"/>
            <a:ext cx="2185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OCI AI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234440"/>
            <a:ext cx="4800600" cy="713232"/>
          </a:xfrm>
          <a:prstGeom prst="roundRect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39712" y="1344168"/>
            <a:ext cx="4471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Call a managed AI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130552"/>
            <a:ext cx="3200400" cy="713232"/>
          </a:xfrm>
          <a:prstGeom prst="roundRect">
            <a:avLst/>
          </a:prstGeom>
          <a:solidFill>
            <a:srgbClr val="E7F6EC"/>
          </a:solidFill>
          <a:ln>
            <a:solidFill>
              <a:srgbClr val="E7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2240280"/>
            <a:ext cx="2871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Need a custom ML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2130552"/>
            <a:ext cx="2514600" cy="713232"/>
          </a:xfrm>
          <a:prstGeom prst="roundRect">
            <a:avLst/>
          </a:prstGeom>
          <a:solidFill>
            <a:srgbClr val="E7F6EC"/>
          </a:solidFill>
          <a:ln>
            <a:solidFill>
              <a:srgbClr val="E7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42231" y="2240280"/>
            <a:ext cx="2185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OCI Data Science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130552"/>
            <a:ext cx="4800600" cy="713232"/>
          </a:xfrm>
          <a:prstGeom prst="roundRect">
            <a:avLst/>
          </a:prstGeom>
          <a:solidFill>
            <a:srgbClr val="E7F6EC"/>
          </a:solidFill>
          <a:ln>
            <a:solidFill>
              <a:srgbClr val="E7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9712" y="2240280"/>
            <a:ext cx="4471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Train and manage your own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026664"/>
            <a:ext cx="3200400" cy="713232"/>
          </a:xfrm>
          <a:prstGeom prst="roundRect">
            <a:avLst/>
          </a:prstGeom>
          <a:solidFill>
            <a:srgbClr val="FCF1E0"/>
          </a:solidFill>
          <a:ln>
            <a:solidFill>
              <a:srgbClr val="F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3136392"/>
            <a:ext cx="2871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Need relational enterprise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3026664"/>
            <a:ext cx="2514600" cy="713232"/>
          </a:xfrm>
          <a:prstGeom prst="roundRect">
            <a:avLst/>
          </a:prstGeom>
          <a:solidFill>
            <a:srgbClr val="FCF1E0"/>
          </a:solidFill>
          <a:ln>
            <a:solidFill>
              <a:srgbClr val="F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42231" y="3136392"/>
            <a:ext cx="2185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Autonomous Database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026664"/>
            <a:ext cx="4800600" cy="713232"/>
          </a:xfrm>
          <a:prstGeom prst="roundRect">
            <a:avLst/>
          </a:prstGeom>
          <a:solidFill>
            <a:srgbClr val="FCF1E0"/>
          </a:solidFill>
          <a:ln>
            <a:solidFill>
              <a:srgbClr val="F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39712" y="3136392"/>
            <a:ext cx="4471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Store/query structured business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922776"/>
            <a:ext cx="3200400" cy="713232"/>
          </a:xfrm>
          <a:prstGeom prst="roundRect">
            <a:avLst/>
          </a:prstGeom>
          <a:solidFill>
            <a:srgbClr val="FCEBEB"/>
          </a:solidFill>
          <a:ln>
            <a:solidFill>
              <a:srgbClr val="FC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4032504"/>
            <a:ext cx="2871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Need real-time predictions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77639" y="3922776"/>
            <a:ext cx="2514600" cy="713232"/>
          </a:xfrm>
          <a:prstGeom prst="roundRect">
            <a:avLst/>
          </a:prstGeom>
          <a:solidFill>
            <a:srgbClr val="FCEBEB"/>
          </a:solidFill>
          <a:ln>
            <a:solidFill>
              <a:srgbClr val="FC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42231" y="4032504"/>
            <a:ext cx="2185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Model Deployment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3922776"/>
            <a:ext cx="4800600" cy="713232"/>
          </a:xfrm>
          <a:prstGeom prst="roundRect">
            <a:avLst/>
          </a:prstGeom>
          <a:solidFill>
            <a:srgbClr val="FCEBEB"/>
          </a:solidFill>
          <a:ln>
            <a:solidFill>
              <a:srgbClr val="FC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9712" y="4032504"/>
            <a:ext cx="4471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Expose a trained model as an endpoint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818888"/>
            <a:ext cx="3200400" cy="713232"/>
          </a:xfrm>
          <a:prstGeom prst="roundRect">
            <a:avLst/>
          </a:prstGeom>
          <a:solidFill>
            <a:srgbClr val="F3F5F7"/>
          </a:solidFill>
          <a:ln>
            <a:solidFill>
              <a:srgbClr val="F3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952" y="4928616"/>
            <a:ext cx="2871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Need secure credentials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77639" y="4818888"/>
            <a:ext cx="2514600" cy="713232"/>
          </a:xfrm>
          <a:prstGeom prst="roundRect">
            <a:avLst/>
          </a:prstGeom>
          <a:solidFill>
            <a:srgbClr val="F3F5F7"/>
          </a:solidFill>
          <a:ln>
            <a:solidFill>
              <a:srgbClr val="F3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42231" y="4928616"/>
            <a:ext cx="2185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OCI Vault / IAM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4818888"/>
            <a:ext cx="4800600" cy="713232"/>
          </a:xfrm>
          <a:prstGeom prst="roundRect">
            <a:avLst/>
          </a:prstGeom>
          <a:solidFill>
            <a:srgbClr val="F3F5F7"/>
          </a:solidFill>
          <a:ln>
            <a:solidFill>
              <a:srgbClr val="F3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39712" y="4928616"/>
            <a:ext cx="4471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Avoid hard-coded secrets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658368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Oracle Cloud Infrastructure • Training presentation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Final mental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37560" cy="1965960"/>
          </a:xfrm>
          <a:prstGeom prst="roundRect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527048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AI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20240"/>
            <a:ext cx="30083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226"/>
                </a:solidFill>
              </a:defRPr>
            </a:pPr>
            <a:r>
              <a:t>Use managed AI capabilities through APIs.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337560" cy="1965960"/>
          </a:xfrm>
          <a:prstGeom prst="roundRect">
            <a:avLst/>
          </a:prstGeom>
          <a:solidFill>
            <a:srgbClr val="E7F6EC"/>
          </a:solidFill>
          <a:ln>
            <a:solidFill>
              <a:srgbClr val="E7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1" y="1527048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Data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1920240"/>
            <a:ext cx="30083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226"/>
                </a:solidFill>
              </a:defRPr>
            </a:pPr>
            <a:r>
              <a:t>Use managed JupyterLab + Python to explore and train.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17320"/>
            <a:ext cx="3337560" cy="1965960"/>
          </a:xfrm>
          <a:prstGeom prst="roundRect">
            <a:avLst/>
          </a:prstGeom>
          <a:solidFill>
            <a:srgbClr val="FCF1E0"/>
          </a:solidFill>
          <a:ln>
            <a:solidFill>
              <a:srgbClr val="F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2752" y="1527048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Autonomous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920240"/>
            <a:ext cx="30083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226"/>
                </a:solidFill>
              </a:defRPr>
            </a:pPr>
            <a:r>
              <a:t>Use secure Python connectivity for enterprise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4069080"/>
            <a:ext cx="3337560" cy="1828800"/>
          </a:xfrm>
          <a:prstGeom prst="roundRect">
            <a:avLst/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70632" y="4178808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Model Catalog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0632" y="4572000"/>
            <a:ext cx="300837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226"/>
                </a:solidFill>
              </a:defRPr>
            </a:pPr>
            <a:r>
              <a:t>Version and store deployable model artifacts.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069080"/>
            <a:ext cx="3337560" cy="1828800"/>
          </a:xfrm>
          <a:prstGeom prst="roundRect">
            <a:avLst/>
          </a:prstGeom>
          <a:solidFill>
            <a:srgbClr val="FCEBEB"/>
          </a:solidFill>
          <a:ln>
            <a:solidFill>
              <a:srgbClr val="FC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1" y="4178808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Model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4572000"/>
            <a:ext cx="300837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226"/>
                </a:solidFill>
              </a:defRPr>
            </a:pPr>
            <a:r>
              <a:t>Turn the model into an HTTP prediction service.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 → Train → Catalog → Deploy → Invoke → Monitor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D3D"/>
                </a:solidFill>
              </a:defRPr>
            </a:pPr>
            <a:r>
              <a:t>Official references &amp; screenshot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6"/>
                </a:solidFill>
              </a:defRPr>
            </a:pPr>
            <a:r>
              <a:t>Oracle Data Science — A Data Scientist's Guide to OCI</a:t>
            </a:r>
          </a:p>
          <a:p>
            <a:pPr>
              <a:spcAft>
                <a:spcPts val="700"/>
              </a:spcAft>
              <a:defRPr sz="1500" b="0">
                <a:solidFill>
                  <a:srgbClr val="1E2226"/>
                </a:solidFill>
              </a:defRPr>
            </a:pPr>
            <a:r>
              <a:t>Oracle Data Science — Creating a Notebook Session</a:t>
            </a:r>
          </a:p>
          <a:p>
            <a:pPr>
              <a:spcAft>
                <a:spcPts val="700"/>
              </a:spcAft>
              <a:defRPr sz="1500" b="0">
                <a:solidFill>
                  <a:srgbClr val="1E2226"/>
                </a:solidFill>
              </a:defRPr>
            </a:pPr>
            <a:r>
              <a:t>Oracle Data Science — Model Deployments / Creating a Model Deployment</a:t>
            </a:r>
          </a:p>
          <a:p>
            <a:pPr>
              <a:spcAft>
                <a:spcPts val="700"/>
              </a:spcAft>
              <a:defRPr sz="1500" b="0">
                <a:solidFill>
                  <a:srgbClr val="1E2226"/>
                </a:solidFill>
              </a:defRPr>
            </a:pPr>
            <a:r>
              <a:t>Oracle Data Science — Notebook Sessions</a:t>
            </a:r>
          </a:p>
          <a:p>
            <a:pPr>
              <a:spcAft>
                <a:spcPts val="700"/>
              </a:spcAft>
              <a:defRPr sz="1500" b="0">
                <a:solidFill>
                  <a:srgbClr val="1E2226"/>
                </a:solidFill>
              </a:defRPr>
            </a:pPr>
            <a:r>
              <a:t>Oracle LiveLabs — OCI AI Vision workshop (Analytics &amp; AI navigation screenshot)</a:t>
            </a:r>
          </a:p>
          <a:p>
            <a:pPr>
              <a:spcAft>
                <a:spcPts val="700"/>
              </a:spcAft>
              <a:defRPr sz="1500" b="0">
                <a:solidFill>
                  <a:srgbClr val="1E2226"/>
                </a:solidFill>
              </a:defRPr>
            </a:pPr>
            <a:r>
              <a:t>Oracle Learn — Enterprise chatbot with OCI Data Science, LangChain and Oracle Database 23ai (model deployment screenshot)</a:t>
            </a:r>
          </a:p>
          <a:p>
            <a:pPr>
              <a:spcAft>
                <a:spcPts val="700"/>
              </a:spcAft>
              <a:defRPr sz="1500" b="0">
                <a:solidFill>
                  <a:srgbClr val="1E2226"/>
                </a:solidFill>
              </a:defRPr>
            </a:pPr>
            <a:r>
              <a:t>Oracle documentation — Autonomous Database / DB Connection and wallet concepts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166360"/>
            <a:ext cx="10698480" cy="914400"/>
          </a:xfrm>
          <a:prstGeom prst="roundRect">
            <a:avLst/>
          </a:prstGeom>
          <a:solidFill>
            <a:srgbClr val="FCF1E0"/>
          </a:solidFill>
          <a:ln>
            <a:solidFill>
              <a:srgbClr val="F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5276088"/>
            <a:ext cx="103692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t>Screenshot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5669280"/>
            <a:ext cx="10369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226"/>
                </a:solidFill>
              </a:defRPr>
            </a:pPr>
            <a:r>
              <a:t>The deck uses OCI-console-style annotated screens and references Oracle's published console screenshots. Console labels, regions, service names and layout can change over time; always verify against your current OCI tenancy.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47104"/>
            <a:ext cx="1115568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6973"/>
                </a:solidFill>
              </a:defRPr>
            </a:pPr>
            <a:r>
              <a:t>Oracle Cloud Infrastructure • Training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1980</Words>
  <Application>Microsoft Macintosh PowerPoint</Application>
  <PresentationFormat>Custom</PresentationFormat>
  <Paragraphs>301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dc:description>generated using python-pptx</dc:description>
  <cp:lastModifiedBy>Admin</cp:lastModifiedBy>
  <cp:revision>2</cp:revision>
  <dcterms:created xsi:type="dcterms:W3CDTF">2013-01-27T09:14:16Z</dcterms:created>
  <dcterms:modified xsi:type="dcterms:W3CDTF">2026-09-11T12:04:24Z</dcterms:modified>
</cp:coreProperties>
</file>