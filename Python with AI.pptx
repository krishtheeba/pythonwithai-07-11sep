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</p:sldIdLst>
  <p:sldSz cy="6858000" cx="12188950"/>
  <p:notesSz cx="6858000" cy="12188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1" roundtripDataSignature="AMtx7mjpgRtXwq8HQHHaQVr21/haglxK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286E94-94AD-4C82-8B56-ECC43290CDE1}">
  <a:tblStyle styleId="{3B286E94-94AD-4C82-8B56-ECC43290CD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121" Type="http://customschemas.google.com/relationships/presentationmetadata" Target="metadata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4" name="Google Shape;1034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5" name="Google Shape;104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9" name="Google Shape;105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4" name="Google Shape;109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5" name="Google Shape;1105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8" name="Google Shape;1118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9" name="Google Shape;1129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0" name="Google Shape;1140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7" name="Google Shape;1157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2" name="Google Shape;1182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9" name="Google Shape;1199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0" name="Google Shape;1210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4" name="Google Shape;1224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8" name="Google Shape;1258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5" name="Google Shape;1275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6" name="Google Shape;1286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4" name="Google Shape;1304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2" name="Google Shape;1332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5" name="Google Shape;1345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6" name="Google Shape;1356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7" name="Google Shape;1367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1" name="Google Shape;1401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8" name="Google Shape;1418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9" name="Google Shape;1429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2" name="Google Shape;1442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3" name="Google Shape;1453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1" name="Google Shape;1481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2" name="Google Shape;1492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3" name="Google Shape;1503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5" name="Google Shape;1555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6" name="Google Shape;1566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0" name="Google Shape;1580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7" name="Google Shape;1597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8" name="Google Shape;1608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1" name="Google Shape;1641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8" name="Google Shape;1658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9" name="Google Shape;1669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0" name="Google Shape;1680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1" name="Google Shape;1691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2" name="Google Shape;1702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3" name="Google Shape;1713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B2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232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2194560" y="4389120"/>
            <a:ext cx="5029200" cy="5029200"/>
          </a:xfrm>
          <a:prstGeom prst="ellipse">
            <a:avLst/>
          </a:prstGeom>
          <a:solidFill>
            <a:srgbClr val="1B2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333041"/>
            <a:ext cx="9601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with AI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3017515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From Core Python to Enterprise ML on Oracle Cloud Infrastructure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4846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51389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5-Day Intensive Program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023360" y="4846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AUDIENCE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023360" y="51389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Professionals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06640" y="4846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FOCUS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406640" y="51389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· Data Science · ML · OCI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B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BAE"/>
                </a:solidFill>
                <a:latin typeface="Calibri"/>
                <a:ea typeface="Calibri"/>
                <a:cs typeface="Calibri"/>
                <a:sym typeface="Calibri"/>
              </a:rPr>
              <a:t>Python with AI  ·  Confidential Training Material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PROGRAM ORIENTATION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Course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1874520"/>
            <a:ext cx="6675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five-day, project-based technical program taking experienced engineers from Python fluency to production ML on Oracle Cloud Infrastructure (OCI).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Structured as a progressive pipeline: Core Python → Data Engineering → ML Foundations → Model Building → Cloud AI Deployment.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Every module pairs a working code pattern with an enterprise scenario — reconciliation, fraud detection, forecasting, document processing — not toy examples.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Assumes prior programming experience; the emphasis is on idiomatic, production-grade Python and defensible modeling decisions, not language basics.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Hands-on labs use industry-standard tooling: NumPy, pandas, scikit-learn, Streamlit, NLTK, and the OCI Python SDK / ADS.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Capstone expectation: a working solution that integrates Oracle data, Python processing, and a deployed AI/ML model.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360920" y="1874520"/>
            <a:ext cx="4343400" cy="4434840"/>
          </a:xfrm>
          <a:prstGeom prst="roundRect">
            <a:avLst>
              <a:gd fmla="val 1684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635240" y="208483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PROGRAM AT A GLANCE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635240" y="2468880"/>
            <a:ext cx="37947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1 — Python Fundamentals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2 — Data &amp; AI Essentials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3 — AI &amp; ML Foundations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4 — Building AI Models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5 — AI + Oracle Cloud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BY THE END OF THIS COURSE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Learning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Write idiomatic, maintainable Python using variables, control flow, functions, and the core data structures — applied to data and AI workloads.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Perform data cleaning, transformation, and exploratory analysis at production quality using pandas and NumPy.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Prepare Oracle-sourced data for machine learning workflows, including cleaning, feature preparation, and train/test partitioning.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Build, evaluate, and interpret supervised ML models — and read evaluation metrics (accuracy, precision, recall, F1) the way a reviewer or stakeholder will.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Use OCI Data Science notebooks to develop, train, and iterate on Python-based AI models in a managed cloud environment.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Connect Python workflows to Oracle Autonomous Database and deploy trained models as scalable OCI endpoints.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Deliver a working, end-to-end solution that integrates Oracle data, Python processing, and a deployed AI/ML model.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5-DAY MODULE 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Course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" name="Google Shape;62;p4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1188725"/>
                <a:gridCol w="3291850"/>
                <a:gridCol w="6766550"/>
              </a:tblGrid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 Focus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Topics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Programming Fundamentals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Setup &amp; execution model · variables/operators · control flow · functions &amp; scope · data structures · OOP overview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for Data &amp; AI Essentials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NumPy · pandas · Matplotlib/Seaborn · CSV I/O · data cleaning · Iris dataset lab · chart selection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Introduction to AI &amp; Machine Learning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vs ML vs DL · supervised vs unsupervised · scikit-learn Estimator API · Linear Regression · KNN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Building AI Models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 metrics · Logistic Regression · Decision Trees · model persistence · Streamlit · NLTK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+ Oracle Cloud Infrastructure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OCI AI services · OCI Data Science notebooks · Autonomous DB connectivity · model deployment · case studies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Google Shape;63;p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1E2761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74320" y="228600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74320" y="19659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617720" y="1463040"/>
            <a:ext cx="6949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Programming Fundamentals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617720" y="2514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Re-establishing core language fluency with a production and tooling lens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617720" y="3246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MODULE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617720" y="3566160"/>
            <a:ext cx="67665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 &amp; execution model (Jupyter / VS Code / Colab)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Variables, data types, and operators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Conditional statements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Functions and scope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Lists, tuples, sets, and dictionaries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 of object-oriented programming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Python Runtime &amp; Tooling Landscape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Python is an interpreted, dynamically-typed language executed by CPython (the reference runtime) via a compile-to-bytecode step.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Choice of authoring environment shapes team velocity: notebooks (Jupyter/Colab) for exploration and demos, IDEs (VS Code) for production code, packaging, and debugging.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Virtual environments (venv, conda) isolate project dependencies — essential when AI stacks pin exact versions of NumPy, scikit-learn, or CUDA-linked libraries.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reproducibility and dependency isolation are prerequisites for CI/CD, containerization, and handing a notebook off as production code.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local development in VS Code, collaborative EDA in Jupyter, zero-setup demos and GPU access in Colab, managed training in OCI Data Science notebooks (Day 5).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Choosing an Environment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p7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2560325"/>
                <a:gridCol w="4480550"/>
                <a:gridCol w="4206250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Environment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Consideration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Jupyter Notebook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EDA, iterative analysis, teaching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Cell state can drift from top-to-bottom execution order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Code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 modules, packages, debugging, refactors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linting/type-checking (Pylance), Git integration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Colab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Zero-setup sharing, free GPU/TPU for quick experiments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Session-based runtime; no persistent local environment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OCI Data Science Notebook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Managed training against enterprise data (Day 5)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Conda environments, direct Object Storage / Autonomous DB access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7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Best practice: prototype in a notebook, then promote stable logic into version-controlled .py modules before production use.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Setting Up an Isolated Project Environment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Create and activate an isolated environment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python3 -m venv .venv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source .venv/bin/activate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Windows: .venv\Scripts\activate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Pin and install dependencies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pip install numpy pandas scikit-learn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pip freeze &gt; requirements.txt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Reproducible install on another machine / CI runner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pip install -r requirements.txt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python --version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python -c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"import numpy; print(numpy.__version__)"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venv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Isolates per-project dependencies from the system interpreter — avoids version clashes across AI projects.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requirements.txt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Captures an exact, reproducible dependency snapshot for teammates and CI/CD pipelines.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never install AI/ML packages into the system Python — always via an isolated environment.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is the same discipline OCI Data Science conda environments enforce at cloud scale (Day 5).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Variables, Data Types &amp; Operators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Python is dynamically typed — a name is bound to an object, and the object (not the name) carries the type.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Core built-in types: int, float, complex, bool, str, and the container types covered later in this module.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Type hints (PEP 484) add optional static typing for readability and tooling — critical in larger AI/data codebases reviewed by teams.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Operators fall into families: arithmetic (+ - * / // % **), comparison (== != &lt; &gt; &lt;= &gt;=), logical (and or not), identity (is / is not), and membership (in / not in).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subtle bugs in data pipelines often trace back to type coercion (e.g., int/float division, None handling) — understanding the model prevents them.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case: parsing configuration or API payloads where values arrive as strings and must be safely coerced to numeric types.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Declaring, Typing &amp; Operating on Values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457200" y="1874525"/>
            <a:ext cx="5989200" cy="465420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Dynamic typing with optional type hints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threshold: float = 0.85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model_name: str =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"fraud-detector-v3"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is_active: bool =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Identity vs equality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a = [1, 2, 3]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b = 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 = [1, 2, 3]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print(a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b, a == c)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True False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Common operators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score = 92 // 10 * 10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floor-division bucket -&gt; 90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within_range = 0 &lt;= score &lt;= 100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Type coercion from external input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raw =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"0.037"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rate = float(raw)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Type hints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Documented intent without runtime enforcement — pair with mypy/pyright in CI for larger teams.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is vs ==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is compares object identity; == compares value equality. Mixing them up is a classic production bug.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always explicitly coerce external input (API, CSV, DB) — never assume type.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Consideration: chained comparisons (0 &lt;= score &lt;= 100) are Pythonic and avoid separate `and` clauses.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Applying Types Safely at a Data Boundary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parse_transaction(raw: dict) -&gt; dict: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"""Coerce a raw API/DB record into typed fields."""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float(raw[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"is_flagged"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raw.get(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"flag"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"0"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 ==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"1"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"currency"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str(raw[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"currency"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]).upper(),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record = 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"1250.50"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"flag"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"1"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"currency"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"usd"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clean = parse_transaction(record)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print(clean)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{'amount': 1250.5, 'is_flagged': True, 'currency': 'USD'}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Enterprise data rarely arrives correctly typed — API/DB boundaries are exactly where type bugs enter a pipeline.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single parsing function centralizes coercion logic, making it unit-testable in isolation.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pattern scales directly into the pandas dtype handling used throughout Day 2.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Common mistake: comparing raw.get('flag') to the integer 1 instead of the string '1' — a frequent source of silent logic errors.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Conditional Statements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if / elif / else branches execution based on boolean expressions — the foundation of all decision logic.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Python evaluates 'truthiness': empty containers, 0, None, and empty strings are falsy; everything else is truthy.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Short-circuit evaluation means `and` / `or` stop evaluating as soon as the result is determined — useful for guarding against errors.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conditional (ternary) expression `x if cond else y` compresses simple branches into a single readable line.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input validation, feature-flag branching, and business-rule engines are all built on conditional logic.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case: validating a record before it enters a training pipeline, and routing malformed rows to a quarantine path.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Structuring Decision Logic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457200" y="1874525"/>
            <a:ext cx="5989200" cy="465420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classify_latency(ms: float) -&gt; str: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ms &lt; 100: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"fast"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ms &lt; 500: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"acceptable"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"slow"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Guard clause pattern (preferred over deep nesting)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score_or_none(record: dict) -&gt; float |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"features"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record: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record[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"features"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model.predict(record[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"features"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Ternary expression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label =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"fraud"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probability &gt; 0.5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"legit"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Guard clauses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Return early on invalid input instead of nesting the 'happy path' inside multiple if blocks.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keep condition expressions simple and named — extract complex boolean logic into a well-named function.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Consideration: Python 3.10+ offers structural pattern matching (match/case) as a readable alternative for multi-way branches.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Common mistake: using `==` to compare against None instead of `is None`.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Input Validation Before Model Scoring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REQUIRED = 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"merchant_category"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"account_age_days"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validate(record: dict) -&gt; tuple[bool, str]: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field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REQUIRED: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field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record: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f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"missing field: {field}"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record[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&lt;= 0: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 must be positive"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"ok"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ok, reason = validate({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-5,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"merchant_category"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"retail"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"account_age_days"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400})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print(ok, reason)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False amount must be positive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Production ML pipelines score models on live data — invalid records must be rejected before they reach inference code.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Returning a (bool, reason) tuple gives observability into *why* a record failed, which matters for debugging pipelines at scale.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validation pattern generalizes directly to the feature-preparation steps used before scikit-learn's .predict() (Day 3–4).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Loops: for and while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`for` iterates over any iterable (list, tuple, dict, file handle, generator) via Python's iterator protocol.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`while` repeats based on a condition — appropriate when the number of iterations isn't known in advance (e.g., polling, convergence loops).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`break` exits a loop early; `continue` skips to the next iteration; the rarely-used `for...else` runs only if the loop completes without a break.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`enumerate()` and `zip()` are the idiomatic way to get indices or iterate multiple sequences in parallel — avoid manual index counters.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batch processing, streaming record iteration, and training-loop control (epochs, early stopping) all build on this.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case: iterating mini-batches of records for scoring, or looping until a model's validation loss stops improving.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Iterating Idiomatically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457200" y="1874525"/>
            <a:ext cx="5989200" cy="465420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records = load_batch()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list[dict]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Preferred: enumerate instead of manual counters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i, record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enumerate(records, start=1):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print(i, record[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Parallel iteration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pred, actual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zip(predictions, labels):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pred != actual: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log_mismatch(pred, actual)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while with an explicit exit condition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epoch, prev_loss = 0, float(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"inf"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epoch &lt; MAX_EPOCHS: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loss = train_one_epoch()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abs(prev_loss - loss) &lt; 1e-4: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early stopping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prev_loss, epoch = loss, epoch + 1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enumerate / zip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Idiomatic, less error-prone than manual index management — expected in senior-level Python review.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prefer `for` over `while` whenever the collection size is known in advance.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Consideration: the early-stopping while-loop pattern here is the manual version of what Keras/PyTorch callbacks automate.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Common mistake: mutating a list while iterating over it — iterate over a copy or build a new list instead.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Batch-Scoring Records with a Loop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batch = 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"T1001"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250.0},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"T1002"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9800.0},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"T1003"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42.5},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flagged = []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i, txn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enumerate(batch, start=1):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risk = txn[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/ 1000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risk &gt; 1: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flagged.append(txn[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print(f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"[{i}/{len(batch)}] {txn['id']}: risk={risk:.2f}"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"Flagged:"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flagged)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[1/3] T1001: risk=0.25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[2/3] T1002: risk=9.80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[3/3] T1003: risk=0.04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Flagged: ['T1002']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is the manual precursor to vectorized NumPy/pandas scoring covered in Day 2 — understanding the loop clarifies what vectorization replaces.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Progress logging (`[i/len]`) is a lightweight, dependency-free way to monitor long-running batch jobs.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 production, this loop would be replaced by DataFrame.apply() or a fully vectorized expression for performance at scale.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Functions and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Functions are first-class objects in Python — they can be assigned, passed as arguments, and returned from other functions.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Parameter styles: positional, keyword, default values, *args (variadic positional), and **kwargs (variadic keyword).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Scope resolution follows the LEGB rule: Local → Enclosing → Global → Built-in — this determines which `x` a function actually sees.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Closures capture variables from an enclosing scope, enabling patterns like decorators and configurable factory functions.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clean function signatures and correct scope handling are the difference between reusable library code and fragile scripts.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case: a timing/logging decorator wrapped around model inference calls — a pattern used across almost every production ML service.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CONCEPTUAL DIAGRAM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LEGB Scope Resolution Order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45720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1455039" y="2615184"/>
            <a:ext cx="438912" cy="438912"/>
          </a:xfrm>
          <a:prstGeom prst="ellipse">
            <a:avLst/>
          </a:prstGeom>
          <a:solidFill>
            <a:srgbClr val="1E2761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145503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58521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58521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Names assigned inside the current function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289179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339471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4392549" y="2615184"/>
            <a:ext cx="438912" cy="438912"/>
          </a:xfrm>
          <a:prstGeom prst="ellipse">
            <a:avLst/>
          </a:prstGeom>
          <a:solidFill>
            <a:srgbClr val="1E2761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439254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52272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Enclosing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352272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Names in an outer (enclosing) function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582930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633222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330059" y="2615184"/>
            <a:ext cx="438912" cy="438912"/>
          </a:xfrm>
          <a:prstGeom prst="ellipse">
            <a:avLst/>
          </a:prstGeom>
          <a:solidFill>
            <a:srgbClr val="1E2761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733005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646023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646023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Names at module 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876681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926973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10267569" y="2615184"/>
            <a:ext cx="438912" cy="438912"/>
          </a:xfrm>
          <a:prstGeom prst="ellipse">
            <a:avLst/>
          </a:prstGeom>
          <a:solidFill>
            <a:srgbClr val="1E2761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1026756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939774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Built-in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939774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Names provided by Python itself (len, print…)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457200" y="49834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Python searches in this order and stops at the first match — the source of subtle 'shadowing' bugs when a local name hides a global 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Defining Flexible, Well-Scoped Functions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predict_batch(records: list[dict], *, threshold: float = 0.5,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           **model_kwargs) -&gt; list[bool]: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"""Keyword-only threshold; **kwargs forwarded to the model."""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model = load_model(**model_kwargs)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[model.score(r) &gt; threshold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records]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Closures: a function factory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make_scaler(factor: float):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scale(x: float) -&gt; float: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x * factor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'factor' captured from enclosing scope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scale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to_percent = make_scaler(100)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print(to_percent(0.873))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87.3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* forces keyword-only args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Prevents accidental positional misuse of `threshold` — common in senior API design.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Closures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returned `scale` function retains access to `factor` even after `make_scaler` returns.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annotate return types and use keyword-only arguments for anything beyond 2–3 positional parameters.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Timing Decorator for Model Inference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time, functools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timed(func):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@functools.wraps(func)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wrapper(*args, **kwargs):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start = time.perf_counter()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result = func(*args, **kwargs)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elapsed = (time.perf_counter() - start) * 1000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print(f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"{func.__name__} took {elapsed:.1f} ms"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result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wrapper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@timed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predict(features):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model.predict([features])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predict([5.1, 3.5, 1.4, 0.2])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predict took 4.2 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Decorators are closures applied via the @syntax — this exact pattern instruments latency on real inference endpoints.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functools.wraps preserves the original function's name/docstring, which matters for logging and debugging.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is the same profiling discipline used to validate SLAs on OCI Model Deployment endpoints (Day 5).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Lists, Tuples, Sets &amp; Dictionaries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These four built-in containers cover nearly every in-memory data-shaping need before data reaches pandas/NumPy.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Lists are ordered and mutable; tuples are ordered and immutable — use tuples for fixed records (e.g., a coordinate or a return value).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Sets are unordered, unindexed, and store unique elements — ideal for deduplication and fast membership tests.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Dictionaries map hashable keys to values in O(1) average lookup time — the backbone of JSON-like records and lookup tables.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choosing the right structure affects both correctness (mutability semantics) and performance (lookup complexity) at scale.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case: deduplicating incoming event IDs (set) while aggregating counts per category (dict) in a streaming pipeline.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Choosing the Right Container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6" name="Google Shape;336;p23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2011675"/>
                <a:gridCol w="1737350"/>
                <a:gridCol w="1737350"/>
                <a:gridCol w="1920250"/>
                <a:gridCol w="38404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Mutable?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Ordered?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Duplicates?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Use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Sequential records, batch buffers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tuple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Fixed-shape records, function return values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allowed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Deduplication, fast membership tests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Insertion order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Unique keys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JSON-like records, lookup tables, counters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337" name="Google Shape;337;p23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Rule of thumb: reach for a tuple whenever a list's contents should never change after creation — it signals intent and prevents bugs.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Common Operations Across Containers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4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ids = [101, 102, 102, 103]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unique_ids = set(ids)            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{101, 102, 103}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point = (37.77, -122.41)         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immutable coordinate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counts = {}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_id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ids: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counts[_id] = counts.get(_id, 0) + 1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{101: 1, 102: 2, 103: 1}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Comprehensions: the idiomatic construction style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squared = [x * x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range(5)]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high_risk = {t[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txns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&gt; 1000}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by_id = {t[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]: t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txns}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dict.get(key, default)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Avoids KeyError and is the idiomatic way to build counters without importing collections.Counter.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Comprehensions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More Pythonic and typically faster than an equivalent for-loop with .append()/.add().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use collections.Counter / defaultdict for anything beyond a simple counting pattern.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Deduplicating and Aggregating Event Logs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events = 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"u1"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"action"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"login"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"u2"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"action"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"login"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"u1"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"action"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"login"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},   </a:t>
            </a:r>
            <a:r>
              <a:rPr b="0" i="1" lang="en-US" sz="130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duplicate session 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"u3"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"action"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"purchase"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seen = set()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per_user_actions = {}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events: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key = (e[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 e[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"action"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key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seen: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seen.add(key)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per_user_actions.setdefault(e[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 []).append(e[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"action"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print(per_user_actions)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{'u1': ['login'], 'u2': ['login'], 'u3': ['purchase']}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set of composite keys is a lightweight, dependency-free deduplication strategy for streaming or log-style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dict.setdefault() cleanly builds a one-to-many mapping without a defaultdict import.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exact pattern precedes the pandas .drop_duplicates() workflow formalized in Day 2.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6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Overview of Object-Oriented Programming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OOP organizes code around objects that bundle state (attributes) with behavior (methods) — encapsulation.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Inheritance lets a subclass reuse and extend a parent class's behavior; polymorphism lets different classes respond to the same call.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Abstraction exposes a simple interface while hiding implementation detail — exactly what scikit-learn's Estimator API does (.fit / .predict).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nearly every major ML/data library (scikit-learn, PyTorch, pandas) is designed around consistent OOP interfaces.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case: wrapping a custom preprocessing step or model in a class that follows the same fit/transform contract as scikit-learn.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prefer composition over deep inheritance hierarchies — easier to test and reason about.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7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7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Defining Classes with Inheritance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BaseTransformer: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fit(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X):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raise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NotImplementedError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transform(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X):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raise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NotImplementedError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ZScoreScaler(BaseTransformer):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__init__(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.mean_ =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.std_ =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fit(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X):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.mean_ = sum(X) / len(X)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.std_ = (sum((x -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.mean_) ** 2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X) / len(X)) ** 0.5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transform(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X):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[(x -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.mean_) /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.std_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X]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raise NotImplementedError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Defines an abstract contract — every subclass must implement fit/transform.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self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Refers to the instance; attributes set on self persist across method calls (state).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mirror scikit-learn's fit/transform convention so custom code composes with sklearn Pipelines.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Custom Estimator-Style Class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8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scaler = ZScoreScaler()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scaler.fit([10, 12, 9, 15, 11])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scaled = scaler.transform([10, 12, 9, 15, 11])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print([round(v, 2)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v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scaled])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8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8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[-0.53, 0.27, -1.07, 1.60, 0.0]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Following the fit()/transform() contract means this class can later be dropped into a scikit-learn Pipeline unchanged.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is precisely the abstraction senior engineers should recognize before Day 3's scikit-learn Estimator API — same design pattern, production-grade implementation.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Encapsulating mean_/std_ inside the object avoids leaking transformation state into global scope.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1 · PYTHON FUNDAMENTALS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/>
          <p:nvPr/>
        </p:nvSpPr>
        <p:spPr>
          <a:xfrm>
            <a:off x="457200" y="502920"/>
            <a:ext cx="420624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9"/>
          <p:cNvSpPr/>
          <p:nvPr/>
        </p:nvSpPr>
        <p:spPr>
          <a:xfrm>
            <a:off x="457200" y="5029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9"/>
          <p:cNvSpPr/>
          <p:nvPr/>
        </p:nvSpPr>
        <p:spPr>
          <a:xfrm>
            <a:off x="457200" y="114300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Day 1 Summary: Python Programming Fundamentals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457200" y="2148840"/>
            <a:ext cx="111556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Chose the right environment (Jupyter / VS Code / Colab) for each phase of development.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Applied dynamic typing, type hints, and operators correctly at data boundaries.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Wrote guard-clause conditional logic and idiomatic for/while loops.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Designed functions using LEGB scope, closures, and *args/**kwargs.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 the correct container (list/tuple/set/dict) by mutability and performance needs.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Applied OOP fundamentals to build a scikit-learn-compatible custom class.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Module Recap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0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0"/>
          <p:cNvSpPr/>
          <p:nvPr/>
        </p:nvSpPr>
        <p:spPr>
          <a:xfrm>
            <a:off x="274320" y="228600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0"/>
          <p:cNvSpPr/>
          <p:nvPr/>
        </p:nvSpPr>
        <p:spPr>
          <a:xfrm>
            <a:off x="274320" y="19659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0"/>
          <p:cNvSpPr/>
          <p:nvPr/>
        </p:nvSpPr>
        <p:spPr>
          <a:xfrm>
            <a:off x="4617720" y="1463040"/>
            <a:ext cx="6949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for Data &amp; AI Essentials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0"/>
          <p:cNvSpPr/>
          <p:nvPr/>
        </p:nvSpPr>
        <p:spPr>
          <a:xfrm>
            <a:off x="4617720" y="2514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NumPy / pandas / visualization stack that feeds every AI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4617720" y="3246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MODULE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0"/>
          <p:cNvSpPr/>
          <p:nvPr/>
        </p:nvSpPr>
        <p:spPr>
          <a:xfrm>
            <a:off x="4617720" y="3566160"/>
            <a:ext cx="67665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NumPy for numerical operations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Pandas for data manipulation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Matplotlib and Seaborn for visualization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Reading and analyzing CSV files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 basics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Hands-on: exploring the Iris dataset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Choosing and plotting the right chart type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NumPy for Numerical Operations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1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NumPy's ndarray is a fixed-type, contiguous memory block — the foundation nearly every Python ML/data library builds 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Vectorization replaces explicit Python loops with array-wide operations implemented in compiled C — orders of magnitude faster.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Broadcasting lets arrays of compatible (not necessarily identical) shapes be combined without manual reshaping.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pandas, scikit-learn, TensorFlow, and PyTorch all store and operate on data as NumPy-compatible arrays under the hood.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feature scaling, distance calculations, matrix operations for linear algebra-based models.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reach for NumPy whenever you catch yourself writing a for-loop over numeric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PERFORMANCE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Why Vectorization 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6" name="Google Shape;456;p32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2377450"/>
                <a:gridCol w="2651750"/>
                <a:gridCol w="2651750"/>
                <a:gridCol w="356615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1M-Element Sum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Readability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to Use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Pure Python for-loop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~60–90 ms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Verbose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Never, for numeric workloads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NumPy vectorized (a.sum())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~1–2 ms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Concise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choice for numeric arrays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comprehension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~40–60 ms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data, non-numeric transforms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7" name="Google Shape;457;p32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Vectorized NumPy operations are typically 30–100x faster than equivalent pure-Python loops on numeric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Array Creation, Indexing &amp; Broadcasting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arr = np.array([[1, 2, 3], [4, 5, 6]], dtype=np.float64)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arr.shape           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(2, 3)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Vectorized arithmetic (broadcasting a scalar)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scaled = arr * 100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Broadcasting a (3,) row vector across a (2,3) array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weights = np.array([0.2, 0.3, 0.5])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weighted = arr * weights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Boolean indexing (filtering)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mask = arr.sum(axis=1) &gt; 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subset = arr[mask]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Explicit dtypes control memory footprint and avoid silent int/float coercion bugs.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Broadcasting rule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Trailing dimensions must match or be 1 — here (2,3) and (3,) align on the last axis.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use axis= explicitly on reductions (sum, mean) — the default flattens the whole array.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Consideration: boolean masks are the vectorized replacement for filtering with an if-inside-a-loop.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Vectorized Feature Scaling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4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readings = np.array([12.5, 48.2, 9.7, 88.0, 33.1])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Min-max normalization, fully vectorized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normalized = (readings - readings.min()) / (readings.max() - readings.min())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print(np.round(normalized, 2))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Z-score standardization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z = (readings - readings.mean()) / readings.std()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print(np.round(z, 2))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[0.03 0.49 0.   1.   0.3 ]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[-0.85  0.53 -0.99  1.63  0.  -0.32]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Feature scaling is a required preprocessing step before distance-based models (KNN) and gradient-based optimizers converge well.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Both formulas apply to the entire array in one expression — no explicit loop, no intermediate list.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exact normalization logic reappears inside scikit-learn's MinMaxScaler / StandardScaler (Day 3–4).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5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5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Pandas for Data Manipulation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pandas provides two core structures — Series (1-D labeled array) and DataFrame (2-D labeled table) — built on top of NumPy.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Label-based indexing (.loc), positional indexing (.iloc), and boolean filtering are the three primary ways to select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groupby/aggregate implements the split-apply-combine pattern — the standard approach to summarizing data by category.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pandas is the de facto standard for tabular ETL, feature engineering, and exploratory analysis in Python.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reconciling transaction records, computing KYC risk aggregates, building feature tables for ML.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chained boolean filters and groupby operations should replace manual row-by-row iteration entirely.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6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6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Series vs DataFrame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0" name="Google Shape;510;p36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2743200"/>
                <a:gridCol w="4206250"/>
                <a:gridCol w="42976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DataFrame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Dimensionality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1-D labeled array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2-D labeled table (rows × columns)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Analogy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single column, or a dict of values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SQL table / spreadsheet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creation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pd.Series(data, index=...)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pd.DataFrame(dict_of_lists) or pd.read_csv(...)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Common use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feature/metric across records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full dataset with multiple features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511" name="Google Shape;511;p3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7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7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7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Selecting, Filtering &amp; Aggregating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7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7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 = pd.read_csv(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"transactions.csv"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Label-based vs positional selection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df.loc[df[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&gt; 1000, 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df.iloc[0:5, 0:3]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Boolean filtering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high_risk = df[(df[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&gt; 5000) &amp; (df[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"country"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!=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Split-apply-combine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summary = (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df.groupby(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.agg([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"sum"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"mean"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.rename(columns={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"sum"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"total"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"n_txns"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7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7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.loc vs .iloc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.loc selects by label/condition; .iloc selects by integer position — mixing them is a common bug source.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Boolean chaining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Combine conditions with &amp; / | (not `and`/`or`) and wrap each condition in parentheses.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chain .groupby().agg() rather than looping over unique values manually.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Reconciling Transactions by Account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8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8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data =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"account_id"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"A1"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"A1"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"A2"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"A2"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"A3"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    [250.0, 75.5, 900.0, 120.0, 40.0],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"status"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    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"posted"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"posted"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"pending"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"posted"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"posted"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 = pd.DataFrame(data)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reconciled = 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df[df[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"status"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"posted"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.groupby(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"account_id"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.sum()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.reset_index(name=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"posted_total"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print(reconciled)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8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8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8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  account_id  posted_total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0         A1        325.5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1         A2        120.0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2         A3         40.0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8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8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is a realistic reconciliation task: total only 'posted' transactions per account before comparing against a ledger balance.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reset_index(name=...) converts the grouped Series back into a clean, well-named DataFrame column — a common finishing step.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same groupby pattern scales to KYC aggregation (flags per customer) or compliance queries (volume per jurisdiction).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Matplotlib and Seaborn for Visualization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9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Matplotlib is the foundational plotting library — the Figure/Axes object model underlies nearly every Python visualization tool.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Seaborn is a higher-level API built on Matplotlib, adding statistical plot types and sensible defaults for multi-variable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EDA (exploratory data analysis) relies on visualization to surface distributions, outliers, and relationships before modeling.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visual EDA often reveals data-quality issues (skew, outliers, leakage) that summary statistics alone miss.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distribution checks before choosing a scaling method, correlation heatmaps before feature selection.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always visualize before modeling — a model trained on unexamined data is a governance risk.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Figure/Axes API and Seaborn Shortcuts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0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0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seaborn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fig, ax = plt.subplots(figsize=(6, 4))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ax.hist(df[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 bins=30)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ax.set_title(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"Transaction Amount Distribution"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ax.set_xlabel(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plt.savefig(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"dist.png"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dpi=150, bbox_inches=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"tight"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Seaborn: higher-level, DataFrame-aware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sns.boxplot(data=df, x=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"status"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y=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sns.heatmap(df.corr(numeric_only=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), annot=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cmap=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"Blues"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0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0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fig, ax = plt.subplots()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object-oriented API — preferred over pyplot's implicit state machine for anything beyond a quick script.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sns.heatmap(df.corr())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One line surfaces multicollinearity — critical before feature selection for linear models.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always label axes and title plots — an unlabeled chart is not a deliverable in professional training material.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Correlation Heatmap Before Feature Selection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1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1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corr = df[[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"age"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"income"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"balance"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"credit_score"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]].corr()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sns.heatmap(corr, annot=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fmt=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".2f"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cmap=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"coolwarm"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    vmin=-1, vmax=1)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plt.title(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"Feature Correlation Matrix"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plt.tight_layout()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plt.savefig(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"correlation.png"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1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1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income ↔ balance: 0.82  (strong)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credit_score ↔ age: 0.11  (weak)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1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1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correlation above ~0.8 between two features flags redundancy — a candidate for dropping one before training a linear model.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Weak correlations (age vs credit_score here) suggest the feature contributes independent signal.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check directly informs feature selection decisions ahead of Day 3's regression and classification models.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Reading and Analyzing CSV Files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2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CSV remains the most common interchange format at the boundary of most enterprise data pipelines — exports from Oracle, warehouses, and SaaS tools.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Correct parsing requires attention to delimiters, encoding, header rows, date formats, and mixed/inferred dtypes.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pandas.read_csv exposes fine-grained control — dtype, parse_dates, usecols, na_values, and chunksize for large files.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silently mis-parsed columns (e.g., leading-zero IDs read as integers) are a frequent, hard-to-detect data-quality bug.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ingesting a nightly Oracle export, sampling a very large file without loading it entirely into memory.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always inspect dtypes and row counts immediately after loading — before doing anything else.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Controlling CSV Ingestion Precisely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3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3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 = pd.read_csv(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"accounts_export.csv"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dtype={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str},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preserve leading zeros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parse_dates=[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"opened_date"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usecols=[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"opened_date"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"balance"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"country"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na_values=[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"N/A"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"--"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df.info()                 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dtypes + null counts at a glance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df.shape                  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(rows, columns) sanity check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Streaming a very large file in chunks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chunk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pd.read_csv(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"huge_export.csv"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chunksize=100_000):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process(chunk)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3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3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dtype={'account_id': str}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Prevents pandas from inferring numeric type and silently dropping leading zeros — a classic reconciliation bug.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chunksize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Processes a file larger than memory in streaming fashion — essential for very large Oracle exports.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run .info() immediately after every read_csv() call as a habit, not an afterthought.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Summarizing a Large CSV in Chunks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4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4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total_rows, total_amount = 0, 0.0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chunk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pd.read_csv(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"transactions_2025.csv"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chunksize=50_000):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total_rows += len(chunk)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total_amount += chunk[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"amount"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].sum()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print(f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"Rows: {total_rows:,}  Total: ${total_amount:,.2f}"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4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4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4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Rows: 4,320,118  Total: $912,447,032.55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4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4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Chunked aggregation avoids loading a multi-GB file entirely into memory — a common constraint on shared analysis servers.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accumulator pattern (running totals across chunks) generalizes to any streaming aggregation, including OCI Object Storage reads.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Common mistake: forgetting that each chunk is a fresh DataFrame — indices reset per chunk and must not be assumed continuous.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5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5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5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Cleaning Basics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5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Data quality has measurable dimensions: completeness (nulls), uniqueness (duplicates), validity (type/range), and consistency.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Nulls require a decision, not a default action: drop the row, impute a value, or flag it — driven by business context.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Duplicate detection must consider which columns define a 'duplicate' — a full-row duplicate differs from a duplicate business key.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'garbage in, garbage out' applies directly to ML — a model trained on dirty data quietly encodes that noise.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cleaning a customer master file before KYC checks, deduplicating merged records from multiple source systems.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document and log every cleaning decision — it must be explainable to auditors and reproducible.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6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6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6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Practical Data Cleaning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6"/>
          <p:cNvSpPr/>
          <p:nvPr/>
        </p:nvSpPr>
        <p:spPr>
          <a:xfrm>
            <a:off x="45720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6"/>
          <p:cNvSpPr/>
          <p:nvPr/>
        </p:nvSpPr>
        <p:spPr>
          <a:xfrm>
            <a:off x="1455039" y="2615184"/>
            <a:ext cx="438912" cy="438912"/>
          </a:xfrm>
          <a:prstGeom prst="ellipse">
            <a:avLst/>
          </a:prstGeom>
          <a:solidFill>
            <a:srgbClr val="0E7C7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6"/>
          <p:cNvSpPr/>
          <p:nvPr/>
        </p:nvSpPr>
        <p:spPr>
          <a:xfrm>
            <a:off x="145503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6"/>
          <p:cNvSpPr/>
          <p:nvPr/>
        </p:nvSpPr>
        <p:spPr>
          <a:xfrm>
            <a:off x="58521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6"/>
          <p:cNvSpPr/>
          <p:nvPr/>
        </p:nvSpPr>
        <p:spPr>
          <a:xfrm>
            <a:off x="58521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Profile nulls, dtypes, and duplicate keys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6"/>
          <p:cNvSpPr/>
          <p:nvPr/>
        </p:nvSpPr>
        <p:spPr>
          <a:xfrm>
            <a:off x="289179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6"/>
          <p:cNvSpPr/>
          <p:nvPr/>
        </p:nvSpPr>
        <p:spPr>
          <a:xfrm>
            <a:off x="339471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6"/>
          <p:cNvSpPr/>
          <p:nvPr/>
        </p:nvSpPr>
        <p:spPr>
          <a:xfrm>
            <a:off x="4392549" y="2615184"/>
            <a:ext cx="438912" cy="438912"/>
          </a:xfrm>
          <a:prstGeom prst="ellipse">
            <a:avLst/>
          </a:prstGeom>
          <a:solidFill>
            <a:srgbClr val="0E7C7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6"/>
          <p:cNvSpPr/>
          <p:nvPr/>
        </p:nvSpPr>
        <p:spPr>
          <a:xfrm>
            <a:off x="439254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6"/>
          <p:cNvSpPr/>
          <p:nvPr/>
        </p:nvSpPr>
        <p:spPr>
          <a:xfrm>
            <a:off x="352272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Decide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6"/>
          <p:cNvSpPr/>
          <p:nvPr/>
        </p:nvSpPr>
        <p:spPr>
          <a:xfrm>
            <a:off x="352272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Drop, impute, or flag — based on business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6"/>
          <p:cNvSpPr/>
          <p:nvPr/>
        </p:nvSpPr>
        <p:spPr>
          <a:xfrm>
            <a:off x="582930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6"/>
          <p:cNvSpPr/>
          <p:nvPr/>
        </p:nvSpPr>
        <p:spPr>
          <a:xfrm>
            <a:off x="633222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6"/>
          <p:cNvSpPr/>
          <p:nvPr/>
        </p:nvSpPr>
        <p:spPr>
          <a:xfrm>
            <a:off x="7330059" y="2615184"/>
            <a:ext cx="438912" cy="438912"/>
          </a:xfrm>
          <a:prstGeom prst="ellipse">
            <a:avLst/>
          </a:prstGeom>
          <a:solidFill>
            <a:srgbClr val="0E7C7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6"/>
          <p:cNvSpPr/>
          <p:nvPr/>
        </p:nvSpPr>
        <p:spPr>
          <a:xfrm>
            <a:off x="733005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6"/>
          <p:cNvSpPr/>
          <p:nvPr/>
        </p:nvSpPr>
        <p:spPr>
          <a:xfrm>
            <a:off x="646023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Deduplicate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6"/>
          <p:cNvSpPr/>
          <p:nvPr/>
        </p:nvSpPr>
        <p:spPr>
          <a:xfrm>
            <a:off x="646023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Remove duplicates by the correct key definition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6"/>
          <p:cNvSpPr/>
          <p:nvPr/>
        </p:nvSpPr>
        <p:spPr>
          <a:xfrm>
            <a:off x="876681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6"/>
          <p:cNvSpPr/>
          <p:nvPr/>
        </p:nvSpPr>
        <p:spPr>
          <a:xfrm>
            <a:off x="926973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6"/>
          <p:cNvSpPr/>
          <p:nvPr/>
        </p:nvSpPr>
        <p:spPr>
          <a:xfrm>
            <a:off x="10267569" y="2615184"/>
            <a:ext cx="438912" cy="438912"/>
          </a:xfrm>
          <a:prstGeom prst="ellipse">
            <a:avLst/>
          </a:prstGeom>
          <a:solidFill>
            <a:srgbClr val="0E7C7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6"/>
          <p:cNvSpPr/>
          <p:nvPr/>
        </p:nvSpPr>
        <p:spPr>
          <a:xfrm>
            <a:off x="1026756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6"/>
          <p:cNvSpPr/>
          <p:nvPr/>
        </p:nvSpPr>
        <p:spPr>
          <a:xfrm>
            <a:off x="939774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6"/>
          <p:cNvSpPr/>
          <p:nvPr/>
        </p:nvSpPr>
        <p:spPr>
          <a:xfrm>
            <a:off x="939774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Re-check shape, dtypes, and null counts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6"/>
          <p:cNvSpPr/>
          <p:nvPr/>
        </p:nvSpPr>
        <p:spPr>
          <a:xfrm>
            <a:off x="457200" y="49834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Treat cleaning as a repeatable, logged pipeline step — not a one-off manual fix applied in a notebook.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7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7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7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Handling Nulls and Duplicates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7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47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Profile before acting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df.isnull().sum()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df.duplicated(subset=[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"customer_id"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]).sum()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Decide per column — not a blanket .dropna()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"income"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= 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"income"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].fillna(df[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"income"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].median())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 = df.dropna(subset=[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"customer_id"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"account_opened"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Deduplicate on the correct business key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 = df.drop_duplicates(subset=[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"customer_id"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 keep=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"last"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df.isnull().sum().sum()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confirm 0 after cleaning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7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7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fillna(median)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Median imputation is robust to outliers — a common default for skewed financial fields like income.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keep='last'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Assumes later records are more current — validate this assumption against the source system's semantics.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Common mistake: calling df.dropna() with no subset, which silently drops rows for nulls in irrelevant columns.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Cleaning a Messy Customer Export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8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8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raw = pd.read_csv(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"customers_raw.csv"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before = len(raw)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clean = 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raw.dropna(subset=[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"customer_id"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.assign(email=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lambda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d: d[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"email"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].str.lower().str.strip())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.drop_duplicates(subset=[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"customer_id"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 keep=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"last"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after = len(clean)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print(f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"Rows: {before} -&gt; {after}  (removed {before - after})"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8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8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8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Rows: 18420 -&gt; 17903  (removed 517)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8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8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Chaining .dropna() → .assign() → .drop_duplicates() reads as a clear, auditable pipeline rather than scattered statements.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Standardizing email casing before deduplication prevents 'Jane@x.com' and 'jane@x.com' from being treated as different customers.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Logging before/after row counts is a minimal but essential audit trail for any cleaning step touching customer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Hands-On: Exploring the Iris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9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Iris dataset (150 samples, 4 numeric features, 3 species) is the canonical dataset for learning classification workflows end to end.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Its small size and clean structure let you focus entirely on the EDA → modeling workflow rather than data-wrangling overhead.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Standard EDA sequence: load → shape/dtypes → summary statistics → distributions → relationships between features and target.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even in enterprise settings, a quick 'toy dataset' pass validates a new pipeline or library version before touching production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case: this exact workflow (load → describe → visualize) is what you'll repeat on every new dataset throughout your career.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lab directly sets up the supervised learning models built in Day 3–4.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Loading and Profiling the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0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0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sklearn.datasets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load_iris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iris = load_iris(as_frame=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 = iris.frame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"species"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= 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"target"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].map(dict(enumerate(iris.target_names)))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df.shape     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(150, 6)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df.info()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df.describe()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count, mean, std, min, quartiles, max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"species"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].value_counts()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50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50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as_frame=True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Returns a ready-to-use pandas DataFrame instead of raw NumPy arrays — faster path into EDA.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.describe()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fastest way to sanity-check scale, spread, and possible outliers across every numeric column at once.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always check value_counts() on the target column to confirm classes are reasonably balanced.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5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Full Exploration Pass on Iris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1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1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summary = df.groupby(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"species"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"sepal length (cm)"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"petal length (cm)"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].mean().round(2)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print(summary)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1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1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1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            sepal length (cm)  petal length (cm)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setosa                    5.01                1.46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versicolor                5.94                4.26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virginica                 6.59                5.55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1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51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Grouping by species immediately reveals petal length as a strongly separating feature — a preview of feature importance before any model is trained.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kind of group-mean comparison is a standard first step for any classification EDA, not just Iris.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Findings like this directly justify feature choices made later in the Linear Regression / KNN labs (Day 3).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5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5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Choosing the Right Chart Type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2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Histograms reveal the shape of a single variable's distribution — skew, modality, and rough outlier presence.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Boxplots summarize distribution via quartiles and explicitly flag outliers beyond 1.5×IQR — best for comparing across categories.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Scatterplots reveal the relationship between two continuous variables — linearity, clusters, and separability.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picking the wrong chart type is a common way analysis gets misread by stakeholders or hides a real data issue.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histogram for a single KPI's spread, boxplot for comparing that KPI across regions, scatterplot for feature-vs-feature checks before modeling.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for a classification problem, always scatter the two most important features colored by class before modeling.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DECISION GUIDE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Histogram vs Boxplot vs Scatterplot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5" name="Google Shape;765;p53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2377450"/>
                <a:gridCol w="4297675"/>
                <a:gridCol w="466345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Answers the Question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Reveals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Histogram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is one variable distributed?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Skew, modality, rough outliers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Boxplot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does distribution compare across groups?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Median, IQR, explicit outliers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Scatterplot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do two variables relate?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Linearity, clustering, class separability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6" name="Google Shape;766;p5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5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Three Chart Types in Practice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4"/>
          <p:cNvSpPr/>
          <p:nvPr/>
        </p:nvSpPr>
        <p:spPr>
          <a:xfrm>
            <a:off x="457200" y="1828800"/>
            <a:ext cx="112471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4"/>
          <p:cNvSpPr/>
          <p:nvPr/>
        </p:nvSpPr>
        <p:spPr>
          <a:xfrm>
            <a:off x="713232" y="2029968"/>
            <a:ext cx="107350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sns.histplot(df[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"petal length (cm)"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], bins=20, kde=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sns.boxplot(data=df, x=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"species"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y=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"sepal width (cm)"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sns.scatterplot(data=df, x=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"petal length (cm)"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y=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"petal width (cm)"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hue=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"species"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4"/>
          <p:cNvSpPr/>
          <p:nvPr/>
        </p:nvSpPr>
        <p:spPr>
          <a:xfrm>
            <a:off x="457200" y="5257800"/>
            <a:ext cx="11247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kde=True overlays a smoothed density curve on the histogram, making the shape easier to read.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hue='species' turns a plain scatterplot into a class-separability check — exactly what a classifier will exploit.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5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5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5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55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5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Detecting Outliers and Class Separation on Iris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5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5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sns.boxplot(data=df, x=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"species"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y=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"sepal width (cm)"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sns.scatterplot(data=df, x=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"petal length (cm)"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        y=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"petal width (cm)"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hue=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"species"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s=60)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5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55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5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setosa: clearly separated cluster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versicolor / virginica: partial overlap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5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5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boxplot flags a small number of outlier points in setosa's sepal width — worth a data-quality check before training.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scatterplot shows setosa is linearly separable on petal dimensions alone, while versicolor/virginica overlap — this predicts which algorithms will struggle later.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visual insight is exactly why KNN (Day 3) performs very well on Iris but needs care on the overlapping classes.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2 · DATA &amp; AI ESSENTIALS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6"/>
          <p:cNvSpPr/>
          <p:nvPr/>
        </p:nvSpPr>
        <p:spPr>
          <a:xfrm>
            <a:off x="457200" y="502920"/>
            <a:ext cx="4206240" cy="457200"/>
          </a:xfrm>
          <a:prstGeom prst="roundRect">
            <a:avLst>
              <a:gd fmla="val 16000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56"/>
          <p:cNvSpPr/>
          <p:nvPr/>
        </p:nvSpPr>
        <p:spPr>
          <a:xfrm>
            <a:off x="457200" y="5029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56"/>
          <p:cNvSpPr/>
          <p:nvPr/>
        </p:nvSpPr>
        <p:spPr>
          <a:xfrm>
            <a:off x="457200" y="114300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Day 2 Summary: Python for Data &amp; AI Essentials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6"/>
          <p:cNvSpPr/>
          <p:nvPr/>
        </p:nvSpPr>
        <p:spPr>
          <a:xfrm>
            <a:off x="457200" y="2148840"/>
            <a:ext cx="111556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Used NumPy vectorization and broadcasting in place of manual numeric loops.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Manipulated tabular data with pandas: selection, filtering, and groupby aggregation.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labeled, presentation-ready charts with Matplotlib and Seaborn.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Ingested CSV files precisely — dtypes, parsing, and chunked processing for scale.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Applied a repeatable null-handling and deduplication pipeline to a messy dataset.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Completed a full EDA pass on the Iris dataset and matched chart types to analytical questions.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Module Recap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7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7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6C4A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57"/>
          <p:cNvSpPr/>
          <p:nvPr/>
        </p:nvSpPr>
        <p:spPr>
          <a:xfrm>
            <a:off x="274320" y="228600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7"/>
          <p:cNvSpPr/>
          <p:nvPr/>
        </p:nvSpPr>
        <p:spPr>
          <a:xfrm>
            <a:off x="274320" y="19659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7"/>
          <p:cNvSpPr/>
          <p:nvPr/>
        </p:nvSpPr>
        <p:spPr>
          <a:xfrm>
            <a:off x="4617720" y="1463040"/>
            <a:ext cx="6949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to AI &amp; Machine Learning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7"/>
          <p:cNvSpPr/>
          <p:nvPr/>
        </p:nvSpPr>
        <p:spPr>
          <a:xfrm>
            <a:off x="4617720" y="2514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From the AI/ML/DL landscape to your first trained models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7"/>
          <p:cNvSpPr/>
          <p:nvPr/>
        </p:nvSpPr>
        <p:spPr>
          <a:xfrm>
            <a:off x="4617720" y="3246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MODULE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7"/>
          <p:cNvSpPr/>
          <p:nvPr/>
        </p:nvSpPr>
        <p:spPr>
          <a:xfrm>
            <a:off x="4617720" y="3566160"/>
            <a:ext cx="67665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AI, ML, and Deep Learning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 of Machine Learning: supervised vs unsupervised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Scikit-learn essentials: split, fit, predict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Algorithm: Linear Regression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Algorithm: K-Nearest Neighbors (KNN)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AI, Machine Learning &amp; Deep Learning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8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Artificial Intelligence (AI) is the broad field of building systems that perform tasks requiring human-like intelligence.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Machine Learning (ML) is a subset of AI: systems that learn patterns from data rather than following explicitly programmed rules.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Deep Learning (DL) is a subset of ML using multi-layer neural networks — well suited to unstructured data (images, text, audio).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correctly scoping a problem as 'needs DL' vs 'a solid ML baseline is sufficient' saves significant cost and complexity.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rule engines (classic AI), credit scoring (ML), image/document classification (DL).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this course deliberately focuses on classical ML — the highest-leverage, most explainable starting point for most enterprise problems.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CONCEPTUAL DIAGRAM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5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How AI, ML, and DL Relate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9"/>
          <p:cNvSpPr/>
          <p:nvPr/>
        </p:nvSpPr>
        <p:spPr>
          <a:xfrm>
            <a:off x="411480" y="1828800"/>
            <a:ext cx="7498080" cy="4160520"/>
          </a:xfrm>
          <a:prstGeom prst="roundRect">
            <a:avLst>
              <a:gd fmla="val 3297" name="adj"/>
            </a:avLst>
          </a:prstGeom>
          <a:solidFill>
            <a:srgbClr val="EEF3FC"/>
          </a:solidFill>
          <a:ln cap="flat" cmpd="sng" w="19050">
            <a:solidFill>
              <a:srgbClr val="6C4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9"/>
          <p:cNvSpPr/>
          <p:nvPr/>
        </p:nvSpPr>
        <p:spPr>
          <a:xfrm>
            <a:off x="594360" y="199339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9"/>
          <p:cNvSpPr/>
          <p:nvPr/>
        </p:nvSpPr>
        <p:spPr>
          <a:xfrm>
            <a:off x="1473708" y="2418207"/>
            <a:ext cx="5373624" cy="2981706"/>
          </a:xfrm>
          <a:prstGeom prst="roundRect">
            <a:avLst>
              <a:gd fmla="val 4600" name="adj"/>
            </a:avLst>
          </a:prstGeom>
          <a:solidFill>
            <a:srgbClr val="EEF3FC"/>
          </a:solidFill>
          <a:ln cap="flat" cmpd="sng" w="19050">
            <a:solidFill>
              <a:srgbClr val="6C4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9"/>
          <p:cNvSpPr/>
          <p:nvPr/>
        </p:nvSpPr>
        <p:spPr>
          <a:xfrm>
            <a:off x="1656588" y="2582799"/>
            <a:ext cx="50078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9"/>
          <p:cNvSpPr/>
          <p:nvPr/>
        </p:nvSpPr>
        <p:spPr>
          <a:xfrm>
            <a:off x="2535936" y="3007614"/>
            <a:ext cx="3249168" cy="1802892"/>
          </a:xfrm>
          <a:prstGeom prst="roundRect">
            <a:avLst>
              <a:gd fmla="val 7608" name="adj"/>
            </a:avLst>
          </a:prstGeom>
          <a:solidFill>
            <a:srgbClr val="6C4AB6"/>
          </a:solidFill>
          <a:ln cap="flat" cmpd="sng" w="19050">
            <a:solidFill>
              <a:srgbClr val="6C4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9"/>
          <p:cNvSpPr/>
          <p:nvPr/>
        </p:nvSpPr>
        <p:spPr>
          <a:xfrm>
            <a:off x="2718816" y="3172206"/>
            <a:ext cx="2883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59"/>
          <p:cNvSpPr/>
          <p:nvPr/>
        </p:nvSpPr>
        <p:spPr>
          <a:xfrm>
            <a:off x="8275320" y="19659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READING THE DIAGRAM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59"/>
          <p:cNvSpPr/>
          <p:nvPr/>
        </p:nvSpPr>
        <p:spPr>
          <a:xfrm>
            <a:off x="8275320" y="2286000"/>
            <a:ext cx="35204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Artificial Intelligence: Any system exhibiting human-like intelligent behavior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Machine Learning: Learns patterns from data instead of hard-coded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Deep Learning: Multi-layer neural networks; strong on unstructured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59"/>
          <p:cNvSpPr/>
          <p:nvPr/>
        </p:nvSpPr>
        <p:spPr>
          <a:xfrm>
            <a:off x="457200" y="61722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This course builds classical ML fluency first — the foundation every DL practitioner still relies on for baselines and evaluation.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6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AI vs ML vs DL — A Practical Comparison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0" name="Google Shape;860;p60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2194550"/>
                <a:gridCol w="2834650"/>
                <a:gridCol w="3017525"/>
                <a:gridCol w="3200400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4A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Classical AI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4A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4A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 Learning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4AB6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Hand-coded rules/logic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Learns from labeled/unlabeled data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Learns hierarchical features via neural nets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need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(100s–10Ks of rows)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(10Ks–millions of examples)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Explainability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to high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Typically low without extra tooling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Expert/rule engine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 risk scoring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 image classification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861" name="Google Shape;861;p6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6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6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Types of Machine Learning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61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Supervised learning trains on labeled data (input, known output) to predict outcomes on new, unseen inputs.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Unsupervised learning finds structure in unlabeled data — grouping, compressing, or describing it without a target variable.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choice is dictated by the business question and data availability, not by preference — mislabeling the problem type wastes a project.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most enterprise ML in production (fraud, churn, credit risk) is supervised; unsupervised methods often support supervised ones (segmentation feeding targeted models).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churn prediction (supervised, labeled churned/retained), customer segmentation (unsupervised, no ground-truth segments).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always confirm you actually have reliable labels before committing to a supervised approach.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6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6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6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6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Supervised vs Unsupervised Learning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62"/>
          <p:cNvSpPr/>
          <p:nvPr/>
        </p:nvSpPr>
        <p:spPr>
          <a:xfrm>
            <a:off x="457200" y="1874520"/>
            <a:ext cx="5440680" cy="4434840"/>
          </a:xfrm>
          <a:prstGeom prst="roundRect">
            <a:avLst>
              <a:gd fmla="val 1649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2"/>
          <p:cNvSpPr/>
          <p:nvPr/>
        </p:nvSpPr>
        <p:spPr>
          <a:xfrm>
            <a:off x="457200" y="1874520"/>
            <a:ext cx="5440680" cy="502920"/>
          </a:xfrm>
          <a:prstGeom prst="roundRect">
            <a:avLst>
              <a:gd fmla="val 14545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62"/>
          <p:cNvSpPr/>
          <p:nvPr/>
        </p:nvSpPr>
        <p:spPr>
          <a:xfrm>
            <a:off x="640080" y="187452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62"/>
          <p:cNvSpPr/>
          <p:nvPr/>
        </p:nvSpPr>
        <p:spPr>
          <a:xfrm>
            <a:off x="685800" y="2514600"/>
            <a:ext cx="4983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Trains on (input, known label) pairs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Goal: predict the label for new inputs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Evaluated with ground-truth metrics (accuracy, RMSE, F1)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Examples: Linear/Logistic Regression, KNN, Decision Trees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Use case: churn prediction, fraud detection, price forecasting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62"/>
          <p:cNvSpPr/>
          <p:nvPr/>
        </p:nvSpPr>
        <p:spPr>
          <a:xfrm>
            <a:off x="6263640" y="1874520"/>
            <a:ext cx="5440680" cy="4434840"/>
          </a:xfrm>
          <a:prstGeom prst="roundRect">
            <a:avLst>
              <a:gd fmla="val 1649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2"/>
          <p:cNvSpPr/>
          <p:nvPr/>
        </p:nvSpPr>
        <p:spPr>
          <a:xfrm>
            <a:off x="6263640" y="1874520"/>
            <a:ext cx="5440680" cy="502920"/>
          </a:xfrm>
          <a:prstGeom prst="roundRect">
            <a:avLst>
              <a:gd fmla="val 14545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62"/>
          <p:cNvSpPr/>
          <p:nvPr/>
        </p:nvSpPr>
        <p:spPr>
          <a:xfrm>
            <a:off x="6446520" y="187452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Unsupervised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62"/>
          <p:cNvSpPr/>
          <p:nvPr/>
        </p:nvSpPr>
        <p:spPr>
          <a:xfrm>
            <a:off x="6492240" y="2514600"/>
            <a:ext cx="4983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Trains on unlabeled data only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Goal: discover structure — groups, patterns, dimensions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Evaluated with indirect metrics (silhouette score, business review)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Examples: K-Means clustering, PCA, association rules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Use case: customer segmentation, anomaly discovery, dimensionality reduction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6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6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6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6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Mapping a Business Problem to the Right Type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63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3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Supervised: labels exist (churned: yes/no)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sklearn.linear_model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LogisticRegression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clf = LogisticRegression().fit(X_train, y_train_churned)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Unsupervised: no labels — discover customer groups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sklearn.cluster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KMeans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segments = KMeans(n_clusters=4, random_state=42).fit_predict(X_customers)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63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63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63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Supervised: predicts churn probability per customer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Unsupervised: assigns each customer to 1 of 4 discovered segments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3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3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presence of a reliable, historical label column is the deciding factor — if 'did this customer churn?' is known for past customers, use supervised learning.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Segmentation output (cluster 0–3) has no inherent meaning until a human interprets and names each group — a key difference from supervised predictions.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 practice, unsupervised segments often become a new categorical feature fed into a downstream supervised model.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6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6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6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Scikit-learn Essentials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64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Scikit-learn standardizes nearly every model behind one consistent Estimator API: .fit(X, y), .predict(X), .score(X, y).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Splitting data into train and test sets is mandatory — evaluating on training data overstates real-world performance (overfitting is invisible otherwise).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train_test_split provides a reproducible (via random_state) partition, optionally stratified to preserve class balance.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this consistent API is why swapping Linear Regression for a Decision Tree is often a one-line change — a deliberate design choice worth recognizing.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every supervised model built in this course (Day 3–4) follows this exact split → fit → predict → evaluate sequence.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never let any information from the test set influence training (feature scaling included) — this is 'data leakage'.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6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6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5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65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65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Standard Supervised ML Workflow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65"/>
          <p:cNvSpPr/>
          <p:nvPr/>
        </p:nvSpPr>
        <p:spPr>
          <a:xfrm>
            <a:off x="457200" y="205740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6C4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5"/>
          <p:cNvSpPr/>
          <p:nvPr/>
        </p:nvSpPr>
        <p:spPr>
          <a:xfrm>
            <a:off x="1944624" y="1837944"/>
            <a:ext cx="438912" cy="438912"/>
          </a:xfrm>
          <a:prstGeom prst="ellipse">
            <a:avLst/>
          </a:prstGeom>
          <a:solidFill>
            <a:srgbClr val="6C4AB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65"/>
          <p:cNvSpPr/>
          <p:nvPr/>
        </p:nvSpPr>
        <p:spPr>
          <a:xfrm>
            <a:off x="1944624" y="18379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65"/>
          <p:cNvSpPr/>
          <p:nvPr/>
        </p:nvSpPr>
        <p:spPr>
          <a:xfrm>
            <a:off x="585216" y="231343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65"/>
          <p:cNvSpPr/>
          <p:nvPr/>
        </p:nvSpPr>
        <p:spPr>
          <a:xfrm>
            <a:off x="585216" y="283464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Features (X) and target (y)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65"/>
          <p:cNvSpPr/>
          <p:nvPr/>
        </p:nvSpPr>
        <p:spPr>
          <a:xfrm>
            <a:off x="3870960" y="264718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65"/>
          <p:cNvSpPr/>
          <p:nvPr/>
        </p:nvSpPr>
        <p:spPr>
          <a:xfrm>
            <a:off x="4373880" y="205740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6C4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65"/>
          <p:cNvSpPr/>
          <p:nvPr/>
        </p:nvSpPr>
        <p:spPr>
          <a:xfrm>
            <a:off x="5861304" y="1837944"/>
            <a:ext cx="438912" cy="438912"/>
          </a:xfrm>
          <a:prstGeom prst="ellipse">
            <a:avLst/>
          </a:prstGeom>
          <a:solidFill>
            <a:srgbClr val="6C4AB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65"/>
          <p:cNvSpPr/>
          <p:nvPr/>
        </p:nvSpPr>
        <p:spPr>
          <a:xfrm>
            <a:off x="5861304" y="18379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5"/>
          <p:cNvSpPr/>
          <p:nvPr/>
        </p:nvSpPr>
        <p:spPr>
          <a:xfrm>
            <a:off x="4501896" y="231343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65"/>
          <p:cNvSpPr/>
          <p:nvPr/>
        </p:nvSpPr>
        <p:spPr>
          <a:xfrm>
            <a:off x="4501896" y="283464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Train / test partition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65"/>
          <p:cNvSpPr/>
          <p:nvPr/>
        </p:nvSpPr>
        <p:spPr>
          <a:xfrm>
            <a:off x="7787640" y="264718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5"/>
          <p:cNvSpPr/>
          <p:nvPr/>
        </p:nvSpPr>
        <p:spPr>
          <a:xfrm>
            <a:off x="8290560" y="205740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6C4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5"/>
          <p:cNvSpPr/>
          <p:nvPr/>
        </p:nvSpPr>
        <p:spPr>
          <a:xfrm>
            <a:off x="9777984" y="1837944"/>
            <a:ext cx="438912" cy="438912"/>
          </a:xfrm>
          <a:prstGeom prst="ellipse">
            <a:avLst/>
          </a:prstGeom>
          <a:solidFill>
            <a:srgbClr val="6C4AB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5"/>
          <p:cNvSpPr/>
          <p:nvPr/>
        </p:nvSpPr>
        <p:spPr>
          <a:xfrm>
            <a:off x="9777984" y="18379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65"/>
          <p:cNvSpPr/>
          <p:nvPr/>
        </p:nvSpPr>
        <p:spPr>
          <a:xfrm>
            <a:off x="8418576" y="231343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65"/>
          <p:cNvSpPr/>
          <p:nvPr/>
        </p:nvSpPr>
        <p:spPr>
          <a:xfrm>
            <a:off x="8418576" y="283464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model.fit(X_train, y_train)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65"/>
          <p:cNvSpPr/>
          <p:nvPr/>
        </p:nvSpPr>
        <p:spPr>
          <a:xfrm>
            <a:off x="2415540" y="384048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6C4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5"/>
          <p:cNvSpPr/>
          <p:nvPr/>
        </p:nvSpPr>
        <p:spPr>
          <a:xfrm>
            <a:off x="3902964" y="3621024"/>
            <a:ext cx="438912" cy="438912"/>
          </a:xfrm>
          <a:prstGeom prst="ellipse">
            <a:avLst/>
          </a:prstGeom>
          <a:solidFill>
            <a:srgbClr val="6C4AB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65"/>
          <p:cNvSpPr/>
          <p:nvPr/>
        </p:nvSpPr>
        <p:spPr>
          <a:xfrm>
            <a:off x="3902964" y="36210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65"/>
          <p:cNvSpPr/>
          <p:nvPr/>
        </p:nvSpPr>
        <p:spPr>
          <a:xfrm>
            <a:off x="2543556" y="409651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65"/>
          <p:cNvSpPr/>
          <p:nvPr/>
        </p:nvSpPr>
        <p:spPr>
          <a:xfrm>
            <a:off x="2543556" y="461772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model.predict(X_test)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5"/>
          <p:cNvSpPr/>
          <p:nvPr/>
        </p:nvSpPr>
        <p:spPr>
          <a:xfrm>
            <a:off x="5829300" y="443026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65"/>
          <p:cNvSpPr/>
          <p:nvPr/>
        </p:nvSpPr>
        <p:spPr>
          <a:xfrm>
            <a:off x="6332220" y="384048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6C4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5"/>
          <p:cNvSpPr/>
          <p:nvPr/>
        </p:nvSpPr>
        <p:spPr>
          <a:xfrm>
            <a:off x="7819644" y="3621024"/>
            <a:ext cx="438912" cy="438912"/>
          </a:xfrm>
          <a:prstGeom prst="ellipse">
            <a:avLst/>
          </a:prstGeom>
          <a:solidFill>
            <a:srgbClr val="6C4AB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5"/>
          <p:cNvSpPr/>
          <p:nvPr/>
        </p:nvSpPr>
        <p:spPr>
          <a:xfrm>
            <a:off x="7819644" y="36210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65"/>
          <p:cNvSpPr/>
          <p:nvPr/>
        </p:nvSpPr>
        <p:spPr>
          <a:xfrm>
            <a:off x="6460236" y="409651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65"/>
          <p:cNvSpPr/>
          <p:nvPr/>
        </p:nvSpPr>
        <p:spPr>
          <a:xfrm>
            <a:off x="6460236" y="461772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Compare predictions to y_test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5"/>
          <p:cNvSpPr/>
          <p:nvPr/>
        </p:nvSpPr>
        <p:spPr>
          <a:xfrm>
            <a:off x="457200" y="5440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Every algorithm in this course — Linear Regression, KNN, Logistic Regression, Decision Trees — follows this identical five-step pipeline.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6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6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6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Split, Fit, Predict, Score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6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6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sklearn.model_selection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train_test_split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sklearn.neighbors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KNeighborsClassifier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X_train, X_test, y_train, y_test = train_test_split(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X, y, test_size=0.2, random_state=42, stratify=y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 = KNeighborsClassifier(n_neighbors=5)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predictions = model.predict(X_test)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accuracy = model.score(X_test, y_test)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66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6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stratify=y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Preserves the class proportions of y in both splits — important for imbalanced classification problems.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random_state=42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Fixes the random seed so the split — and therefore results — are reproducible across runs and reviewers.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fit any scaler/encoder on X_train only, then transform X_test — never fit on the full dataset.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6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7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7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67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Complete Mini Pipeline on Iris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67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7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X = df.drop(columns=[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"target"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"species"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y = df[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"target"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X_train, X_test, y_train, y_test = train_test_split(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X, y, test_size=0.2, random_state=42, stratify=y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 = KNeighborsClassifier(n_neighbors=5)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print(f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"Test accuracy: {model.score(X_test, y_test):.2%}"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67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7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67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Test accuracy: 96.67%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67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67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five-line pipeline — split, instantiate, fit, score — is the pattern every model in this course reuses.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96.67% on held-out data (not training data) is a trustworthy estimate of real-world performance.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Any reported accuracy without a train/test split is not a credible number — the first thing a senior reviewer should check.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6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6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6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Algorithm: Linear Regression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68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Linear Regression models a continuous target as a weighted sum of input features: y = w1x1 + w2x2 + ... + b.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Coefficients are fit by minimizing the sum of squared errors (Ordinary Least Squares) between predictions and actual values.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Key assumptions: roughly linear relationship, limited multicollinearity, and residuals with constant variance (homoscedasticity).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still the default first model for forecasting problems (demand, pricing, delivery time) — fast, explainable, and a strong baseline.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predicting delivery time from distance/load, estimating price from square footage and location.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interpret coefficients directly — they quantify feature impact, a property most other models don't offer as cleanly.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6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6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6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6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Fitting and Interpreting a Linear Model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69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9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sklearn.linear_model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LinearRegression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sklearn.metrics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mean_squared_error, r2_score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 = LinearRegression()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preds = model.predict(X_test)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"Coefficients:"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dict(zip(X.columns, model.coef_)))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"Intercept:"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model.intercept_)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"R^2:"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r2_score(y_test, preds))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"RMSE:"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mean_squared_error(y_test, preds) ** 0.5)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69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9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model.coef_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One weight per feature — directly interpretable as 'impact on target per unit increase'.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R^2 vs RMSE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R^2 shows proportion of variance explained (0–1); RMSE is in the target's original units — report both to stakeholders.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check residual plots for patterns — a curved residual plot signals a non-linear relationship.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6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6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7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7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7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Forecasting Delivery Time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70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70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X = df[[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"distance_km"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"package_weight_kg"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"num_stops"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y = df[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"delivery_minutes"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X_train, X_test, y_train, y_test = train_test_split(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X, y, test_size=0.2, random_state=42)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 = LinearRegression().fit(X_train, y_train)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print(dict(zip(X.columns, model.coef_.round(2))))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70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70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70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{'distance_km': 2.14, 'package_weight_kg': 0.85, 'num_stops': 6.30}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70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70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Each extra stop adds ~6.3 minutes on average, holding distance and weight constant — a directly actionable operational insight.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kind of coefficient interpretation is exactly what stakeholders expect from a forecasting model — not just a prediction number.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Common mistake: interpreting coefficients when features are on very different scales — standardize first for fair magnitude comparison.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7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7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7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7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7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Algorithm: K-Nearest Neighbors (KNN)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71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KNN classifies a new point by majority vote among its k closest training points, measured by a distance metric (typically Euclidean).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It's a 'lazy learner' — no explicit training phase; all computation happens at prediction time by scanning stored training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Choosing k matters: small k overfits to noise, large k oversmooths and can blur class boundaries.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simple, effective baseline for classification when data is well-scaled and moderate in size; also used for recommendation-style similarity lookups.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product category classification from feature similarity, quick anomaly flags via distance to nearest neighbors.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KNN suffers from the curse of dimensionality — distance becomes less meaningful as feature count grows, and feature scaling is mandatory.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7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7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7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7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7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Configuring and Fitting KNN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72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72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sklearn.preprocessing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StandardScaler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sklearn.neighbors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KNeighborsClassifier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sklearn.pipeline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Pipeline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pipe = Pipeline([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"scale"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StandardScaler()),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mandatory for distance-based models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"knn"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KNeighborsClassifier(n_neighbors=7, weights=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"distance"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)),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pipe.fit(X_train, y_train)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pipe.score(X_test, y_test)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72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72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StandardScaler before KNN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Without scaling, a feature measured in the thousands dominates the distance calculation over one measured in single digits.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weights='distance'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Closer neighbors get more influence than farther ones — often improves accuracy near class boundaries.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wrap scaling + model in a Pipeline so the same transform is applied consistently at prediction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7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7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7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7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Product Category Classification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73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73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pipe = Pipeline([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"scale"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StandardScaler()),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"knn"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KNeighborsClassifier(n_neighbors=5)),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pipe.fit(X_train, y_train)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preds = pipe.predict(X_test[:3])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print(preds,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"accuracy:"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pipe.score(X_test, y_test))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73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73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73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['electronics' 'apparel' 'electronics'] accuracy: 0.91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73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A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4AB6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73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91% test accuracy from just five lines demonstrates why KNN is a strong, low-effort baseline before reaching for more complex models.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Because KNN stores all training data, prediction cost grows with dataset size — a scaling consideration for very large catalogs.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baseline result becomes the benchmark that Day 4's Logistic Regression and Decision Tree models are compared against.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7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7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7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7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  • 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7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Linear Regression vs KNN — Choosing a Baseline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74"/>
          <p:cNvSpPr/>
          <p:nvPr/>
        </p:nvSpPr>
        <p:spPr>
          <a:xfrm>
            <a:off x="457200" y="1874520"/>
            <a:ext cx="5440680" cy="4434840"/>
          </a:xfrm>
          <a:prstGeom prst="roundRect">
            <a:avLst>
              <a:gd fmla="val 1649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74"/>
          <p:cNvSpPr/>
          <p:nvPr/>
        </p:nvSpPr>
        <p:spPr>
          <a:xfrm>
            <a:off x="457200" y="1874520"/>
            <a:ext cx="5440680" cy="502920"/>
          </a:xfrm>
          <a:prstGeom prst="roundRect">
            <a:avLst>
              <a:gd fmla="val 14545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74"/>
          <p:cNvSpPr/>
          <p:nvPr/>
        </p:nvSpPr>
        <p:spPr>
          <a:xfrm>
            <a:off x="640080" y="187452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74"/>
          <p:cNvSpPr/>
          <p:nvPr/>
        </p:nvSpPr>
        <p:spPr>
          <a:xfrm>
            <a:off x="685800" y="2514600"/>
            <a:ext cx="4983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Predicts a continuous value (regression)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Parametric — learns fixed coefficients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Fast to train and to predict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Highly interpretable via coefficients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when the relationship is roughly linear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74"/>
          <p:cNvSpPr/>
          <p:nvPr/>
        </p:nvSpPr>
        <p:spPr>
          <a:xfrm>
            <a:off x="6263640" y="1874520"/>
            <a:ext cx="5440680" cy="4434840"/>
          </a:xfrm>
          <a:prstGeom prst="roundRect">
            <a:avLst>
              <a:gd fmla="val 1649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74"/>
          <p:cNvSpPr/>
          <p:nvPr/>
        </p:nvSpPr>
        <p:spPr>
          <a:xfrm>
            <a:off x="6263640" y="1874520"/>
            <a:ext cx="5440680" cy="502920"/>
          </a:xfrm>
          <a:prstGeom prst="roundRect">
            <a:avLst>
              <a:gd fmla="val 14545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74"/>
          <p:cNvSpPr/>
          <p:nvPr/>
        </p:nvSpPr>
        <p:spPr>
          <a:xfrm>
            <a:off x="6446520" y="187452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K-Nearest Neighbors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74"/>
          <p:cNvSpPr/>
          <p:nvPr/>
        </p:nvSpPr>
        <p:spPr>
          <a:xfrm>
            <a:off x="6492240" y="2514600"/>
            <a:ext cx="4983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Predicts a class or a value via neighbor voting/averaging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Non-parametric — no fixed learned parameters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No training cost; prediction cost scales with data size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Interpretability limited to 'similar to these examples'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when decision boundaries are irregular / non-linear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7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3 · AI &amp; ML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7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75"/>
          <p:cNvSpPr/>
          <p:nvPr/>
        </p:nvSpPr>
        <p:spPr>
          <a:xfrm>
            <a:off x="457200" y="502920"/>
            <a:ext cx="4206240" cy="457200"/>
          </a:xfrm>
          <a:prstGeom prst="roundRect">
            <a:avLst>
              <a:gd fmla="val 16000" name="adj"/>
            </a:avLst>
          </a:prstGeom>
          <a:solidFill>
            <a:srgbClr val="6C4A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75"/>
          <p:cNvSpPr/>
          <p:nvPr/>
        </p:nvSpPr>
        <p:spPr>
          <a:xfrm>
            <a:off x="457200" y="5029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75"/>
          <p:cNvSpPr/>
          <p:nvPr/>
        </p:nvSpPr>
        <p:spPr>
          <a:xfrm>
            <a:off x="457200" y="114300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Day 3 Summary: AI &amp; Machine Learning Foundations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75"/>
          <p:cNvSpPr/>
          <p:nvPr/>
        </p:nvSpPr>
        <p:spPr>
          <a:xfrm>
            <a:off x="457200" y="2148840"/>
            <a:ext cx="111556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Distinguished AI, Machine Learning, and Deep Learning by data need and explainability.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Correctly matched supervised vs unsupervised approaches to business problems.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Applied the standard scikit-learn workflow: split, fit, predict, evaluate.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and interpreted a Linear Regression model for a forecasting problem.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a scaled, pipelined KNN classifier and understood its strengths and limits.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Compared Linear Regression and KNN as complementary baseline algorithms.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7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Module Recap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7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76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76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C97A1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76"/>
          <p:cNvSpPr/>
          <p:nvPr/>
        </p:nvSpPr>
        <p:spPr>
          <a:xfrm>
            <a:off x="274320" y="228600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76"/>
          <p:cNvSpPr/>
          <p:nvPr/>
        </p:nvSpPr>
        <p:spPr>
          <a:xfrm>
            <a:off x="274320" y="19659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76"/>
          <p:cNvSpPr/>
          <p:nvPr/>
        </p:nvSpPr>
        <p:spPr>
          <a:xfrm>
            <a:off x="4617720" y="1463040"/>
            <a:ext cx="6949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Building AI Models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6"/>
          <p:cNvSpPr/>
          <p:nvPr/>
        </p:nvSpPr>
        <p:spPr>
          <a:xfrm>
            <a:off x="4617720" y="2514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Evaluating rigorously, extending your model toolkit, and shipping model artifacts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76"/>
          <p:cNvSpPr/>
          <p:nvPr/>
        </p:nvSpPr>
        <p:spPr>
          <a:xfrm>
            <a:off x="4617720" y="3246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MODULE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76"/>
          <p:cNvSpPr/>
          <p:nvPr/>
        </p:nvSpPr>
        <p:spPr>
          <a:xfrm>
            <a:off x="4617720" y="3566160"/>
            <a:ext cx="67665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metrics: accuracy, precision, recall, F1-score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Saving and loading models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 for rapid AI demos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with the NLTK package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77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77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77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Evaluation Metrics for Classification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77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Accuracy alone is misleading on imbalanced data — a model predicting 'no fraud' 100% of the time can score 99% accuracy and be useless.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Precision answers: of everything flagged positive, how much was actually positive? — matters when false positives are costly.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Recall answers: of everything actually positive, how much did we catch? — matters when false negatives are costly (missed fraud, missed disease).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F1-score is the harmonic mean of precision and recall — a single number balancing both when neither can be prioritized alone.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the choice of which metric to optimize is a business decision, not a technical one — always confirm it with stakeholders.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case: a fraud model should typically prioritize recall (catch fraud) while a spam filter prioritizes precision (avoid flagging real email).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7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7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7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REFERENCE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7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Confusion Matrix and Derived Metrics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5" name="Google Shape;1135;p78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2377450"/>
                <a:gridCol w="4937750"/>
                <a:gridCol w="3931925"/>
              </a:tblGrid>
              <a:tr h="50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7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7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 / Priority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7A1A"/>
                    </a:solidFill>
                  </a:tcPr>
                </a:tc>
              </a:tr>
              <a:tr h="50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Positive (TP)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Correctly predicted positive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Positive (FP)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 positive, actually negative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Drives Precision down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0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Negative (FN)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 negative, actually positive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Drives Recall down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 predicted positives, % correct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 / (TP + FP)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0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 actual positives, % caught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 / (TP + FN)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Balance of precision and recall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2·(P·R) / (P + R)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136" name="Google Shape;1136;p7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7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7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7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7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Reading a Classification Report on Imbalanced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79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9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sklearn.metrics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classification_report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preds = model.predict(X_test)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print(classification_report(y_test, preds,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target_names=[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"legit"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"fraud"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79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79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79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              precision  recall  f1-score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       legit       0.99    1.00      0.99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       fraud       0.83    0.41      0.55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79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79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99% precision/recall on 'legit' looks great but hides the real story — the model catches only 41% of actual fraud (recall).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is the exact failure mode accuracy alone would have hidden — with fraud being ~2% of records, overall accuracy would still read as ~98%.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senior reviewer's first move on any classifier is to check the minority-class row, not the headline accuracy.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7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7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8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8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Logistic Regression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80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Despite the name, Logistic Regression is a classification algorithm — it models the probability of class membership.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It applies the sigmoid function to a linear combination of features, squashing output into a (0, 1) probability range.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decision boundary is linear in feature space; a probability threshold (commonly 0.5, but tunable) converts probability into a class label.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a standard, fast, well-understood baseline for binary classification — churn, default risk, conversion prediction.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predicting whether a customer will churn, whether a loan applicant will default.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the classification threshold should be tuned to the business cost of false positives vs false negatives — 0.5 is a default, not a rule.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8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8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8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8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8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Fitting, Predicting Probabilities &amp; Tuning Threshold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81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81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sklearn.linear_model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LogisticRegression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 = LogisticRegression(max_iter=1000)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probabilities = model.predict_proba(X_test)[:, 1]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P(class=1)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default_preds = model.predict(X_test)    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threshold = 0.5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Business-driven threshold (favor recall for churn)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custom_preds = (probabilities &gt; 0.3).astype(int)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81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81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predict_proba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Returns the underlying probability — essential when the threshold needs to be tuned rather than accepting the 0.5 default.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Lowering the threshold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Increases recall (catches more true positives) at the cost of precision (more false positives) — a deliberate trade-off.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plot a precision-recall curve across thresholds before picking one — don't guess.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8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8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8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8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8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Churn Prediction with Threshold Tuning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82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2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 = LogisticRegression(max_iter=1000).fit(X_train, y_train)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proba = model.predict_proba(X_test)[:, 1]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[0.5, 0.3]: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preds = (proba &gt; t).astype(int)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print(f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"threshold={t}  recall={recall_score(y_test, preds):.2f}"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82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82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82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threshold=0.5  recall=0.58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threshold=0.3  recall=0.79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82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82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Lowering the decision threshold from 0.5 to 0.3 raises churn recall from 58% to 79% — catching more at-risk customers for retention outreach.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is a direct, quantified example of trading precision for recall — the retention team now contacts more customers, some unnecessarily, to save more that would have churned.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exact probability-and-threshold pattern is what powers the risk scores in most banking/fraud production systems.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8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8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8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8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8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Decision Trees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83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Decision Tree splits data recursively on feature thresholds, choosing splits that best separate classes (measured by Gini impurity or entropy).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Trees are highly interpretable — the learned splits can be read directly as a set of if/else business rules.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Unconstrained trees overfit easily by memorizing training data; max_depth, min_samples_leaf, and pruning control complexity.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often required in regulated domains (credit, insurance) precisely because individual decisions can be explained to auditors and customers.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loan approval logic, triage rules for customer support escalation, feature-importance analysis for reporting.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a single deep tree overfits; an ensemble (Random Forest, Gradient Boosting) trades some interpretability for materially better accuracy.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8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8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8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8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8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Fitting a Controlled, Interpretable Tree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84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84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sklearn.tree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DecisionTreeClassifier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 = DecisionTreeClassifier(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max_depth=4,        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limits overfitting, keeps rules readable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min_samples_leaf=20,  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avoids splits on tiny, noisy subsets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criterion=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"gini"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random_state=42,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importances = dict(zip(X.columns, model.feature_importances_.round(3)))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84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84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max_depth / min_samples_leaf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two most important levers against overfitting — always set them explicitly rather than relying on defaults.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feature_importances_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Ranks features by how much they reduce impurity across all splits — a quick, model-native explainability report.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compare train vs test accuracy; a large gap signals overfitting even with depth limits.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8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8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85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85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CONCEPTUAL DIAGRAM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85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How a Decision Tree Makes a Prediction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85"/>
          <p:cNvSpPr/>
          <p:nvPr/>
        </p:nvSpPr>
        <p:spPr>
          <a:xfrm>
            <a:off x="45720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C9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85"/>
          <p:cNvSpPr/>
          <p:nvPr/>
        </p:nvSpPr>
        <p:spPr>
          <a:xfrm>
            <a:off x="1455039" y="2615184"/>
            <a:ext cx="438912" cy="438912"/>
          </a:xfrm>
          <a:prstGeom prst="ellipse">
            <a:avLst/>
          </a:prstGeom>
          <a:solidFill>
            <a:srgbClr val="C97A1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85"/>
          <p:cNvSpPr/>
          <p:nvPr/>
        </p:nvSpPr>
        <p:spPr>
          <a:xfrm>
            <a:off x="145503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85"/>
          <p:cNvSpPr/>
          <p:nvPr/>
        </p:nvSpPr>
        <p:spPr>
          <a:xfrm>
            <a:off x="58521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Root Node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85"/>
          <p:cNvSpPr/>
          <p:nvPr/>
        </p:nvSpPr>
        <p:spPr>
          <a:xfrm>
            <a:off x="58521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Full dataset, first best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85"/>
          <p:cNvSpPr/>
          <p:nvPr/>
        </p:nvSpPr>
        <p:spPr>
          <a:xfrm>
            <a:off x="289179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85"/>
          <p:cNvSpPr/>
          <p:nvPr/>
        </p:nvSpPr>
        <p:spPr>
          <a:xfrm>
            <a:off x="339471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C9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85"/>
          <p:cNvSpPr/>
          <p:nvPr/>
        </p:nvSpPr>
        <p:spPr>
          <a:xfrm>
            <a:off x="4392549" y="2615184"/>
            <a:ext cx="438912" cy="438912"/>
          </a:xfrm>
          <a:prstGeom prst="ellipse">
            <a:avLst/>
          </a:prstGeom>
          <a:solidFill>
            <a:srgbClr val="C97A1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5"/>
          <p:cNvSpPr/>
          <p:nvPr/>
        </p:nvSpPr>
        <p:spPr>
          <a:xfrm>
            <a:off x="439254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85"/>
          <p:cNvSpPr/>
          <p:nvPr/>
        </p:nvSpPr>
        <p:spPr>
          <a:xfrm>
            <a:off x="352272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Decision Split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85"/>
          <p:cNvSpPr/>
          <p:nvPr/>
        </p:nvSpPr>
        <p:spPr>
          <a:xfrm>
            <a:off x="352272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e.g., income &gt; $50K?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85"/>
          <p:cNvSpPr/>
          <p:nvPr/>
        </p:nvSpPr>
        <p:spPr>
          <a:xfrm>
            <a:off x="582930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85"/>
          <p:cNvSpPr/>
          <p:nvPr/>
        </p:nvSpPr>
        <p:spPr>
          <a:xfrm>
            <a:off x="633222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C9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5"/>
          <p:cNvSpPr/>
          <p:nvPr/>
        </p:nvSpPr>
        <p:spPr>
          <a:xfrm>
            <a:off x="7330059" y="2615184"/>
            <a:ext cx="438912" cy="438912"/>
          </a:xfrm>
          <a:prstGeom prst="ellipse">
            <a:avLst/>
          </a:prstGeom>
          <a:solidFill>
            <a:srgbClr val="C97A1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85"/>
          <p:cNvSpPr/>
          <p:nvPr/>
        </p:nvSpPr>
        <p:spPr>
          <a:xfrm>
            <a:off x="733005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85"/>
          <p:cNvSpPr/>
          <p:nvPr/>
        </p:nvSpPr>
        <p:spPr>
          <a:xfrm>
            <a:off x="646023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Child Node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85"/>
          <p:cNvSpPr/>
          <p:nvPr/>
        </p:nvSpPr>
        <p:spPr>
          <a:xfrm>
            <a:off x="646023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Recursively split further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85"/>
          <p:cNvSpPr/>
          <p:nvPr/>
        </p:nvSpPr>
        <p:spPr>
          <a:xfrm>
            <a:off x="876681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85"/>
          <p:cNvSpPr/>
          <p:nvPr/>
        </p:nvSpPr>
        <p:spPr>
          <a:xfrm>
            <a:off x="926973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C9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85"/>
          <p:cNvSpPr/>
          <p:nvPr/>
        </p:nvSpPr>
        <p:spPr>
          <a:xfrm>
            <a:off x="10267569" y="2615184"/>
            <a:ext cx="438912" cy="438912"/>
          </a:xfrm>
          <a:prstGeom prst="ellipse">
            <a:avLst/>
          </a:prstGeom>
          <a:solidFill>
            <a:srgbClr val="C97A1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85"/>
          <p:cNvSpPr/>
          <p:nvPr/>
        </p:nvSpPr>
        <p:spPr>
          <a:xfrm>
            <a:off x="1026756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85"/>
          <p:cNvSpPr/>
          <p:nvPr/>
        </p:nvSpPr>
        <p:spPr>
          <a:xfrm>
            <a:off x="939774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Leaf Node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85"/>
          <p:cNvSpPr/>
          <p:nvPr/>
        </p:nvSpPr>
        <p:spPr>
          <a:xfrm>
            <a:off x="939774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Final class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85"/>
          <p:cNvSpPr/>
          <p:nvPr/>
        </p:nvSpPr>
        <p:spPr>
          <a:xfrm>
            <a:off x="457200" y="49834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Each path from root to leaf reads as a plain-language rule — the source of a tree's interpretability advantage.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8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8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86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86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86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Explaining a Credit Approval Decision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86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86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 = DecisionTreeClassifier(max_depth=3, random_state=42)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feat, score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sorted(zip(X.columns, model.feature_importances_),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key=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lambda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t: -t[1])[:3]: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print(f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"{feat}: {score:.2f}"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86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86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86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credit_score: 0.61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income: 0.24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existing_debt: 0.15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86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86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Reporting feature importances is often a compliance requirement for credit decisions — this is a one-line way to produce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credit_score dominating the split decisions matches domain expectations, which is a useful sanity check on the model.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shallow, readable tree like this can be handed to a business analyst as an explicit rule set, not just a black-box score.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8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8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87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87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87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Saving and Loading Models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87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trained model is just a Python object holding learned parameters — persisting it means serializing that object to disk.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joblib and pickle are the two standard serialization tools; joblib is optimized for objects containing large NumPy arrays (most sklearn models).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Model persistence is what separates a one-off notebook result from a deployable artifact usable in a service or scheduled job.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every production ML system separates training (offline, periodic) from inference (online, using a saved artifact) — this is the bridge.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saving a trained fraud model to load into a nightly batch-scoring job or a live API service.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never unpickle a model file from an untrusted source — deserialization can execute arbitrary code.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8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8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8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8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8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joblib vs pickle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88"/>
          <p:cNvSpPr/>
          <p:nvPr/>
        </p:nvSpPr>
        <p:spPr>
          <a:xfrm>
            <a:off x="457200" y="1874520"/>
            <a:ext cx="5440680" cy="4434840"/>
          </a:xfrm>
          <a:prstGeom prst="roundRect">
            <a:avLst>
              <a:gd fmla="val 1649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88"/>
          <p:cNvSpPr/>
          <p:nvPr/>
        </p:nvSpPr>
        <p:spPr>
          <a:xfrm>
            <a:off x="457200" y="1874520"/>
            <a:ext cx="5440680" cy="502920"/>
          </a:xfrm>
          <a:prstGeom prst="roundRect">
            <a:avLst>
              <a:gd fmla="val 14545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88"/>
          <p:cNvSpPr/>
          <p:nvPr/>
        </p:nvSpPr>
        <p:spPr>
          <a:xfrm>
            <a:off x="640080" y="187452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joblib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88"/>
          <p:cNvSpPr/>
          <p:nvPr/>
        </p:nvSpPr>
        <p:spPr>
          <a:xfrm>
            <a:off x="685800" y="2514600"/>
            <a:ext cx="4983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Optimized for objects with large NumPy arrays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Faster and more memory-efficient for typical sklearn models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standard recommendation in the scikit-learn documentation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API: joblib.dump(model, path) / joblib.load(path)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88"/>
          <p:cNvSpPr/>
          <p:nvPr/>
        </p:nvSpPr>
        <p:spPr>
          <a:xfrm>
            <a:off x="6263640" y="1874520"/>
            <a:ext cx="5440680" cy="4434840"/>
          </a:xfrm>
          <a:prstGeom prst="roundRect">
            <a:avLst>
              <a:gd fmla="val 1649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88"/>
          <p:cNvSpPr/>
          <p:nvPr/>
        </p:nvSpPr>
        <p:spPr>
          <a:xfrm>
            <a:off x="6263640" y="1874520"/>
            <a:ext cx="5440680" cy="502920"/>
          </a:xfrm>
          <a:prstGeom prst="roundRect">
            <a:avLst>
              <a:gd fmla="val 14545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88"/>
          <p:cNvSpPr/>
          <p:nvPr/>
        </p:nvSpPr>
        <p:spPr>
          <a:xfrm>
            <a:off x="6446520" y="187452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88"/>
          <p:cNvSpPr/>
          <p:nvPr/>
        </p:nvSpPr>
        <p:spPr>
          <a:xfrm>
            <a:off x="6492240" y="2514600"/>
            <a:ext cx="4983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General-purpose Python object serialization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Part of the standard library — no extra dependency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Less efficient for large arrays than joblib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API: pickle.dump(model, file) / pickle.load(file)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8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8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8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8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8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Persisting and Reloading a Trained Model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89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89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joblib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joblib.dump(model,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"fraud_model_v1.joblib"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Later — in a different process / service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loaded_model = joblib.load(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"fraud_model_v1.joblib"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preds = loaded_model.predict(X_new)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print(preds[:5])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89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89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89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[0 0 1 0 0]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89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89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loaded model produces identical predictions to the original, in-memory model — verified before deploying it into a service.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Version-tagging the filename (fraud_model_v1) is a minimal but essential step toward reproducible model governance.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exact artifact is what gets registered in the OCI Model Catalog for deployment in Day 5.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8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8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9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9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9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Streamlit for Rapid AI Demos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90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Streamlit turns a plain Python script into an interactive web app — no HTML/CSS/JS required.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Widgets (st.slider, st.file_uploader, st.button) capture user input; the script reruns top-to-bottom on every interaction.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st.cache_data / st.cache_resource avoid re-loading models or re-running expensive computation on every rerun.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the standard fast path for internal tools, stakeholder demos, and proof-of-concept model interfaces.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an internal tool letting an analyst upload a CSV and get model predictions back instantly.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Streamlit is for internal tools and demos, not a substitute for a hardened production API (see OCI Model Deployment, Day 5).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9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9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9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9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9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Minimal Model-Serving Streamlit App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91"/>
          <p:cNvSpPr/>
          <p:nvPr/>
        </p:nvSpPr>
        <p:spPr>
          <a:xfrm>
            <a:off x="457200" y="1828800"/>
            <a:ext cx="112471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91"/>
          <p:cNvSpPr/>
          <p:nvPr/>
        </p:nvSpPr>
        <p:spPr>
          <a:xfrm>
            <a:off x="713232" y="2029968"/>
            <a:ext cx="107350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streamlit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joblib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@st.cache_resource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load_model():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joblib.load(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"fraud_model_v1.joblib"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st.title(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"Fraud Risk Scorer"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uploaded = st.file_uploader(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"Upload transactions CSV"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type=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"csv"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uploaded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st.button(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"Score"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df = pd.read_csv(uploaded)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df[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"risk_score"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 = load_model().predict_proba(df)[:, 1]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st.dataframe(df.sort_values(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"risk_score"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, ascending=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91"/>
          <p:cNvSpPr/>
          <p:nvPr/>
        </p:nvSpPr>
        <p:spPr>
          <a:xfrm>
            <a:off x="457200" y="5257800"/>
            <a:ext cx="11247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@st.cache_resource loads the model once per session, not on every widget interaction — critical for responsiveness.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Clr>
                <a:srgbClr val="1A1F3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Run with `streamlit run app.py` — it opens a local web server and browser tab automatically.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9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9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9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9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9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Running and Sharing the App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92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streamlit run app.py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Launches a local development server (default: http://localhost:8501) with hot-reload on file save.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uploaded CSV is scored live using the cached model, and results render as a sortable, interactive table in the browser.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For sharing beyond your machine: Streamlit Community Cloud, an internal container deployment, or embedding behind a company VPN.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exact pattern — a thin Streamlit front end over a persisted joblib model — is how most enterprise ML proof-of-concepts get their first real user feedback.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9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9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9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9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9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AI with the NLTK Package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93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NLTK (Natural Language Toolkit) is a foundational Python library for classical NLP: tokenization, stopword removal, stemming, POS tagging.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These preprocessing steps remain relevant even in the LLM era — they underpin search indexing, lightweight classifiers, and text feature engineering.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Tokenization splits text into words/sentences; stopword removal discards low-information words (the, is, at); stemming/lemmatization normalizes word forms.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a common precursor to bag-of-words or TF-IDF features feeding classical ML classifiers (spam detection, ticket routing).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cleaning support-ticket text before routing classification, keyword extraction for search relevance.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for anything requiring deep semantic understanding, modern transformer-based embeddings outperform this classical pipeline — know when to reach for which.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9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9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9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9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9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Classical NLP Preprocessing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94"/>
          <p:cNvSpPr/>
          <p:nvPr/>
        </p:nvSpPr>
        <p:spPr>
          <a:xfrm>
            <a:off x="45720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C9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94"/>
          <p:cNvSpPr/>
          <p:nvPr/>
        </p:nvSpPr>
        <p:spPr>
          <a:xfrm>
            <a:off x="1455039" y="2615184"/>
            <a:ext cx="438912" cy="438912"/>
          </a:xfrm>
          <a:prstGeom prst="ellipse">
            <a:avLst/>
          </a:prstGeom>
          <a:solidFill>
            <a:srgbClr val="C97A1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94"/>
          <p:cNvSpPr/>
          <p:nvPr/>
        </p:nvSpPr>
        <p:spPr>
          <a:xfrm>
            <a:off x="145503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94"/>
          <p:cNvSpPr/>
          <p:nvPr/>
        </p:nvSpPr>
        <p:spPr>
          <a:xfrm>
            <a:off x="58521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Tokenize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94"/>
          <p:cNvSpPr/>
          <p:nvPr/>
        </p:nvSpPr>
        <p:spPr>
          <a:xfrm>
            <a:off x="58521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Split text into words/sentences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94"/>
          <p:cNvSpPr/>
          <p:nvPr/>
        </p:nvSpPr>
        <p:spPr>
          <a:xfrm>
            <a:off x="289179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94"/>
          <p:cNvSpPr/>
          <p:nvPr/>
        </p:nvSpPr>
        <p:spPr>
          <a:xfrm>
            <a:off x="339471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C9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94"/>
          <p:cNvSpPr/>
          <p:nvPr/>
        </p:nvSpPr>
        <p:spPr>
          <a:xfrm>
            <a:off x="4392549" y="2615184"/>
            <a:ext cx="438912" cy="438912"/>
          </a:xfrm>
          <a:prstGeom prst="ellipse">
            <a:avLst/>
          </a:prstGeom>
          <a:solidFill>
            <a:srgbClr val="C97A1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94"/>
          <p:cNvSpPr/>
          <p:nvPr/>
        </p:nvSpPr>
        <p:spPr>
          <a:xfrm>
            <a:off x="439254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94"/>
          <p:cNvSpPr/>
          <p:nvPr/>
        </p:nvSpPr>
        <p:spPr>
          <a:xfrm>
            <a:off x="352272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Remove Stopwords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94"/>
          <p:cNvSpPr/>
          <p:nvPr/>
        </p:nvSpPr>
        <p:spPr>
          <a:xfrm>
            <a:off x="352272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Discard low-information 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94"/>
          <p:cNvSpPr/>
          <p:nvPr/>
        </p:nvSpPr>
        <p:spPr>
          <a:xfrm>
            <a:off x="582930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94"/>
          <p:cNvSpPr/>
          <p:nvPr/>
        </p:nvSpPr>
        <p:spPr>
          <a:xfrm>
            <a:off x="633222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C9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94"/>
          <p:cNvSpPr/>
          <p:nvPr/>
        </p:nvSpPr>
        <p:spPr>
          <a:xfrm>
            <a:off x="7330059" y="2615184"/>
            <a:ext cx="438912" cy="438912"/>
          </a:xfrm>
          <a:prstGeom prst="ellipse">
            <a:avLst/>
          </a:prstGeom>
          <a:solidFill>
            <a:srgbClr val="C97A1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94"/>
          <p:cNvSpPr/>
          <p:nvPr/>
        </p:nvSpPr>
        <p:spPr>
          <a:xfrm>
            <a:off x="733005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94"/>
          <p:cNvSpPr/>
          <p:nvPr/>
        </p:nvSpPr>
        <p:spPr>
          <a:xfrm>
            <a:off x="646023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Stem / Lemmatize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94"/>
          <p:cNvSpPr/>
          <p:nvPr/>
        </p:nvSpPr>
        <p:spPr>
          <a:xfrm>
            <a:off x="646023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Normalize word forms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94"/>
          <p:cNvSpPr/>
          <p:nvPr/>
        </p:nvSpPr>
        <p:spPr>
          <a:xfrm>
            <a:off x="876681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94"/>
          <p:cNvSpPr/>
          <p:nvPr/>
        </p:nvSpPr>
        <p:spPr>
          <a:xfrm>
            <a:off x="926973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C9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94"/>
          <p:cNvSpPr/>
          <p:nvPr/>
        </p:nvSpPr>
        <p:spPr>
          <a:xfrm>
            <a:off x="10267569" y="2615184"/>
            <a:ext cx="438912" cy="438912"/>
          </a:xfrm>
          <a:prstGeom prst="ellipse">
            <a:avLst/>
          </a:prstGeom>
          <a:solidFill>
            <a:srgbClr val="C97A1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94"/>
          <p:cNvSpPr/>
          <p:nvPr/>
        </p:nvSpPr>
        <p:spPr>
          <a:xfrm>
            <a:off x="1026756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94"/>
          <p:cNvSpPr/>
          <p:nvPr/>
        </p:nvSpPr>
        <p:spPr>
          <a:xfrm>
            <a:off x="939774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94"/>
          <p:cNvSpPr/>
          <p:nvPr/>
        </p:nvSpPr>
        <p:spPr>
          <a:xfrm>
            <a:off x="939774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Bag-of-words / TF-IDF / POS tags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94"/>
          <p:cNvSpPr/>
          <p:nvPr/>
        </p:nvSpPr>
        <p:spPr>
          <a:xfrm>
            <a:off x="457200" y="49834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Each stage reduces noise and vocabulary size before the text becomes numeric features for a classical ML model.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9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9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95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95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95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Tokenizing and Cleaning a Support Ticket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95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95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nltk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nltk.corpus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stopwords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nltk.tokenize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word_tokenize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nltk.stem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PorterStemmer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text =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"The customer's payment was declined twice this morning."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tokens = word_tokenize(text.lower())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stop_words = set(stopwords.words(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"english"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stemmer = PorterStemmer()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clean = [stemmer.stem(t)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t.isalpha()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stop_words]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print(clean)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95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95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95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['custom', 'payment', 'declin', 'twice', 'morn']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95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7A1A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95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isalpha() strips punctuation tokens before stemming — a common, easy-to-forget cleaning step.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Stemmed forms ('declin', 'custom') aren't real words but group related forms together for a bag-of-words classifier.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exact token list is what would feed a TF-IDF vectorizer ahead of a ticket-routing classifier built with the Day 3–4 algorithms.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9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4 · BUILDING AI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9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96"/>
          <p:cNvSpPr/>
          <p:nvPr/>
        </p:nvSpPr>
        <p:spPr>
          <a:xfrm>
            <a:off x="457200" y="502920"/>
            <a:ext cx="4206240" cy="457200"/>
          </a:xfrm>
          <a:prstGeom prst="roundRect">
            <a:avLst>
              <a:gd fmla="val 16000" name="adj"/>
            </a:avLst>
          </a:prstGeom>
          <a:solidFill>
            <a:srgbClr val="C9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96"/>
          <p:cNvSpPr/>
          <p:nvPr/>
        </p:nvSpPr>
        <p:spPr>
          <a:xfrm>
            <a:off x="457200" y="5029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96"/>
          <p:cNvSpPr/>
          <p:nvPr/>
        </p:nvSpPr>
        <p:spPr>
          <a:xfrm>
            <a:off x="457200" y="114300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Day 4 Summary: Building AI 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96"/>
          <p:cNvSpPr/>
          <p:nvPr/>
        </p:nvSpPr>
        <p:spPr>
          <a:xfrm>
            <a:off x="457200" y="2148840"/>
            <a:ext cx="111556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 the right evaluation metric based on business cost, not default accuracy.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and threshold-tuned a Logistic Regression classifier for churn.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Trained an interpretable, depth-controlled Decision Tree and read its feature importances.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Persisted and reloaded a trained model with joblib for downstream use.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an interactive Streamlit app serving live predictions from a saved model.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Applied NLTK's classical NLP pipeline to prepare text for feature extraction.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9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Module Recap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9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97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97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B23A48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97"/>
          <p:cNvSpPr/>
          <p:nvPr/>
        </p:nvSpPr>
        <p:spPr>
          <a:xfrm>
            <a:off x="274320" y="228600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97"/>
          <p:cNvSpPr/>
          <p:nvPr/>
        </p:nvSpPr>
        <p:spPr>
          <a:xfrm>
            <a:off x="274320" y="19659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97"/>
          <p:cNvSpPr/>
          <p:nvPr/>
        </p:nvSpPr>
        <p:spPr>
          <a:xfrm>
            <a:off x="4617720" y="1463040"/>
            <a:ext cx="6949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+ Oracle Cloud Infrastructure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97"/>
          <p:cNvSpPr/>
          <p:nvPr/>
        </p:nvSpPr>
        <p:spPr>
          <a:xfrm>
            <a:off x="4617720" y="2514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Taking Python-built models to managed, enterprise-scale cloud infrastructure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97"/>
          <p:cNvSpPr/>
          <p:nvPr/>
        </p:nvSpPr>
        <p:spPr>
          <a:xfrm>
            <a:off x="4617720" y="3246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MODULE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97"/>
          <p:cNvSpPr/>
          <p:nvPr/>
        </p:nvSpPr>
        <p:spPr>
          <a:xfrm>
            <a:off x="4617720" y="3566160"/>
            <a:ext cx="67665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 of OCI AI Services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Using OCI Data Science with Python notebooks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Connecting to Oracle Autonomous DB from Python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Deploying ML models with OCI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▸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9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9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9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Overview of OCI AI Services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98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OCI offers a spectrum of managed AI capability — from ready-to-call pretrained services to fully custom model training infrastructure.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Pretrained services (Language, Vision, Speech, Document Understanding) expose AI capability via a simple API call — no model training required.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OCI Data Science provides the custom-model layer: managed notebooks, training compute, and a Model Catalog for anything pretrained services don't cover.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enterprises increasingly prefer managed cloud AI services over self-hosted infrastructure for security, scaling, and maintenance reasons.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Document Understanding for invoice OCR, Language for sentiment on support tickets, Data Science for a custom fraud model.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always check whether a pretrained OCI AI service already solves the problem before building and maintaining a custom model.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9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9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9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9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9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OCI AI Services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99"/>
          <p:cNvSpPr/>
          <p:nvPr/>
        </p:nvSpPr>
        <p:spPr>
          <a:xfrm>
            <a:off x="2926080" y="420624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99"/>
          <p:cNvSpPr/>
          <p:nvPr/>
        </p:nvSpPr>
        <p:spPr>
          <a:xfrm>
            <a:off x="3017520" y="420624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OCI AI Services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99"/>
          <p:cNvSpPr/>
          <p:nvPr/>
        </p:nvSpPr>
        <p:spPr>
          <a:xfrm>
            <a:off x="6949440" y="1783080"/>
            <a:ext cx="3200400" cy="960120"/>
          </a:xfrm>
          <a:prstGeom prst="roundRect">
            <a:avLst>
              <a:gd fmla="val 7619" name="adj"/>
            </a:avLst>
          </a:prstGeom>
          <a:solidFill>
            <a:srgbClr val="EEF3FC"/>
          </a:solidFill>
          <a:ln cap="flat" cmpd="sng" w="15875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99"/>
          <p:cNvSpPr/>
          <p:nvPr/>
        </p:nvSpPr>
        <p:spPr>
          <a:xfrm>
            <a:off x="7086600" y="185623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OCI Language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99"/>
          <p:cNvSpPr/>
          <p:nvPr/>
        </p:nvSpPr>
        <p:spPr>
          <a:xfrm>
            <a:off x="7086600" y="2167128"/>
            <a:ext cx="29260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Sentiment, key phrase &amp; entity extraction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4" name="Google Shape;1464;p99"/>
          <p:cNvCxnSpPr/>
          <p:nvPr/>
        </p:nvCxnSpPr>
        <p:spPr>
          <a:xfrm flipH="1" rot="10800000">
            <a:off x="5303520" y="2263140"/>
            <a:ext cx="1645920" cy="2537460"/>
          </a:xfrm>
          <a:prstGeom prst="straightConnector1">
            <a:avLst/>
          </a:prstGeom>
          <a:noFill/>
          <a:ln cap="flat" cmpd="sng" w="19050">
            <a:solidFill>
              <a:srgbClr val="B23A4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65" name="Google Shape;1465;p99"/>
          <p:cNvSpPr/>
          <p:nvPr/>
        </p:nvSpPr>
        <p:spPr>
          <a:xfrm>
            <a:off x="6949440" y="3063240"/>
            <a:ext cx="3200400" cy="960120"/>
          </a:xfrm>
          <a:prstGeom prst="roundRect">
            <a:avLst>
              <a:gd fmla="val 7619" name="adj"/>
            </a:avLst>
          </a:prstGeom>
          <a:solidFill>
            <a:srgbClr val="EEF3FC"/>
          </a:solidFill>
          <a:ln cap="flat" cmpd="sng" w="15875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99"/>
          <p:cNvSpPr/>
          <p:nvPr/>
        </p:nvSpPr>
        <p:spPr>
          <a:xfrm>
            <a:off x="7086600" y="313639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OCI Vision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99"/>
          <p:cNvSpPr/>
          <p:nvPr/>
        </p:nvSpPr>
        <p:spPr>
          <a:xfrm>
            <a:off x="7086600" y="3447288"/>
            <a:ext cx="29260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Image classification &amp; object detection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8" name="Google Shape;1468;p99"/>
          <p:cNvCxnSpPr/>
          <p:nvPr/>
        </p:nvCxnSpPr>
        <p:spPr>
          <a:xfrm flipH="1" rot="10800000">
            <a:off x="5303520" y="3543300"/>
            <a:ext cx="1645920" cy="1257300"/>
          </a:xfrm>
          <a:prstGeom prst="straightConnector1">
            <a:avLst/>
          </a:prstGeom>
          <a:noFill/>
          <a:ln cap="flat" cmpd="sng" w="19050">
            <a:solidFill>
              <a:srgbClr val="B23A4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69" name="Google Shape;1469;p99"/>
          <p:cNvSpPr/>
          <p:nvPr/>
        </p:nvSpPr>
        <p:spPr>
          <a:xfrm>
            <a:off x="6949440" y="4343400"/>
            <a:ext cx="3200400" cy="960120"/>
          </a:xfrm>
          <a:prstGeom prst="roundRect">
            <a:avLst>
              <a:gd fmla="val 7619" name="adj"/>
            </a:avLst>
          </a:prstGeom>
          <a:solidFill>
            <a:srgbClr val="EEF3FC"/>
          </a:solidFill>
          <a:ln cap="flat" cmpd="sng" w="15875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99"/>
          <p:cNvSpPr/>
          <p:nvPr/>
        </p:nvSpPr>
        <p:spPr>
          <a:xfrm>
            <a:off x="7086600" y="441655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Document Understanding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99"/>
          <p:cNvSpPr/>
          <p:nvPr/>
        </p:nvSpPr>
        <p:spPr>
          <a:xfrm>
            <a:off x="7086600" y="4727448"/>
            <a:ext cx="29260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OCR, form &amp; key-value extraction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2" name="Google Shape;1472;p99"/>
          <p:cNvCxnSpPr/>
          <p:nvPr/>
        </p:nvCxnSpPr>
        <p:spPr>
          <a:xfrm>
            <a:off x="5303520" y="4800600"/>
            <a:ext cx="1645920" cy="22860"/>
          </a:xfrm>
          <a:prstGeom prst="straightConnector1">
            <a:avLst/>
          </a:prstGeom>
          <a:noFill/>
          <a:ln cap="flat" cmpd="sng" w="19050">
            <a:solidFill>
              <a:srgbClr val="B23A4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73" name="Google Shape;1473;p99"/>
          <p:cNvSpPr/>
          <p:nvPr/>
        </p:nvSpPr>
        <p:spPr>
          <a:xfrm>
            <a:off x="6949440" y="5623560"/>
            <a:ext cx="3200400" cy="960120"/>
          </a:xfrm>
          <a:prstGeom prst="roundRect">
            <a:avLst>
              <a:gd fmla="val 7619" name="adj"/>
            </a:avLst>
          </a:prstGeom>
          <a:solidFill>
            <a:srgbClr val="EEF3FC"/>
          </a:solidFill>
          <a:ln cap="flat" cmpd="sng" w="15875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99"/>
          <p:cNvSpPr/>
          <p:nvPr/>
        </p:nvSpPr>
        <p:spPr>
          <a:xfrm>
            <a:off x="7086600" y="569671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OCI Data Science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99"/>
          <p:cNvSpPr/>
          <p:nvPr/>
        </p:nvSpPr>
        <p:spPr>
          <a:xfrm>
            <a:off x="7086600" y="6007608"/>
            <a:ext cx="29260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Custom model training &amp; the Model Catalog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6" name="Google Shape;1476;p99"/>
          <p:cNvCxnSpPr/>
          <p:nvPr/>
        </p:nvCxnSpPr>
        <p:spPr>
          <a:xfrm>
            <a:off x="5303520" y="4800600"/>
            <a:ext cx="1645920" cy="1303020"/>
          </a:xfrm>
          <a:prstGeom prst="straightConnector1">
            <a:avLst/>
          </a:prstGeom>
          <a:noFill/>
          <a:ln cap="flat" cmpd="sng" w="19050">
            <a:solidFill>
              <a:srgbClr val="B23A4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77" name="Google Shape;1477;p9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9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0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0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REFERENCE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10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OCI AI Service Catalog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7" name="Google Shape;1487;p100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2377450"/>
                <a:gridCol w="3931925"/>
                <a:gridCol w="49377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Capability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Enterprise Use Case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48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OCI Language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Sentiment, entities, key phrases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ticket triage, review analysis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OCI Vision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 classification, object detection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Quality inspection, shelf/inventory imagery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OCI Speech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Speech-to-text transcription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 center analytics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 Understanding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OCR, table &amp; key-value extraction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Invoice / KYC document processing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OCI Data Science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model dev, training, deployment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fraud, forecasting, and risk models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8" name="Google Shape;1488;p10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10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0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0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10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OCI Data Science with Python Notebooks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101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OCI Data Science provides fully managed JupyterLab notebook sessions with configurable compute (CPU/GPU) shapes.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Conda environments (data-science, pytorch, tensorflow) ship pre-built with common ML libraries, avoiding manual dependency setup.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Accelerated Data Science (ADS) SDK simplifies common tasks: reading from Object Storage, registering models, and deployment.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gives data science teams the flexibility of a local notebook with the scale, security, and governance of managed cloud infrastructure.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training a model against a large Object-Storage dataset without provisioning local hardware.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notebook sessions are billed while running — stop or auto-terminate idle sessions as a cost-management discipline.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10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10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02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102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102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OCI Data Science Development Workflow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102"/>
          <p:cNvSpPr/>
          <p:nvPr/>
        </p:nvSpPr>
        <p:spPr>
          <a:xfrm>
            <a:off x="457200" y="205740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02"/>
          <p:cNvSpPr/>
          <p:nvPr/>
        </p:nvSpPr>
        <p:spPr>
          <a:xfrm>
            <a:off x="1944624" y="1837944"/>
            <a:ext cx="438912" cy="438912"/>
          </a:xfrm>
          <a:prstGeom prst="ellipse">
            <a:avLst/>
          </a:prstGeom>
          <a:solidFill>
            <a:srgbClr val="B23A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02"/>
          <p:cNvSpPr/>
          <p:nvPr/>
        </p:nvSpPr>
        <p:spPr>
          <a:xfrm>
            <a:off x="1944624" y="18379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102"/>
          <p:cNvSpPr/>
          <p:nvPr/>
        </p:nvSpPr>
        <p:spPr>
          <a:xfrm>
            <a:off x="585216" y="231343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Create Session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102"/>
          <p:cNvSpPr/>
          <p:nvPr/>
        </p:nvSpPr>
        <p:spPr>
          <a:xfrm>
            <a:off x="585216" y="283464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Managed notebook, chosen compute shape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102"/>
          <p:cNvSpPr/>
          <p:nvPr/>
        </p:nvSpPr>
        <p:spPr>
          <a:xfrm>
            <a:off x="3870960" y="264718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102"/>
          <p:cNvSpPr/>
          <p:nvPr/>
        </p:nvSpPr>
        <p:spPr>
          <a:xfrm>
            <a:off x="4373880" y="205740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102"/>
          <p:cNvSpPr/>
          <p:nvPr/>
        </p:nvSpPr>
        <p:spPr>
          <a:xfrm>
            <a:off x="5861304" y="1837944"/>
            <a:ext cx="438912" cy="438912"/>
          </a:xfrm>
          <a:prstGeom prst="ellipse">
            <a:avLst/>
          </a:prstGeom>
          <a:solidFill>
            <a:srgbClr val="B23A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102"/>
          <p:cNvSpPr/>
          <p:nvPr/>
        </p:nvSpPr>
        <p:spPr>
          <a:xfrm>
            <a:off x="5861304" y="18379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102"/>
          <p:cNvSpPr/>
          <p:nvPr/>
        </p:nvSpPr>
        <p:spPr>
          <a:xfrm>
            <a:off x="4501896" y="231343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Develop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102"/>
          <p:cNvSpPr/>
          <p:nvPr/>
        </p:nvSpPr>
        <p:spPr>
          <a:xfrm>
            <a:off x="4501896" y="283464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Python + conda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102"/>
          <p:cNvSpPr/>
          <p:nvPr/>
        </p:nvSpPr>
        <p:spPr>
          <a:xfrm>
            <a:off x="7787640" y="264718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102"/>
          <p:cNvSpPr/>
          <p:nvPr/>
        </p:nvSpPr>
        <p:spPr>
          <a:xfrm>
            <a:off x="8290560" y="205740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102"/>
          <p:cNvSpPr/>
          <p:nvPr/>
        </p:nvSpPr>
        <p:spPr>
          <a:xfrm>
            <a:off x="9777984" y="1837944"/>
            <a:ext cx="438912" cy="438912"/>
          </a:xfrm>
          <a:prstGeom prst="ellipse">
            <a:avLst/>
          </a:prstGeom>
          <a:solidFill>
            <a:srgbClr val="B23A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102"/>
          <p:cNvSpPr/>
          <p:nvPr/>
        </p:nvSpPr>
        <p:spPr>
          <a:xfrm>
            <a:off x="9777984" y="18379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102"/>
          <p:cNvSpPr/>
          <p:nvPr/>
        </p:nvSpPr>
        <p:spPr>
          <a:xfrm>
            <a:off x="8418576" y="231343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Train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102"/>
          <p:cNvSpPr/>
          <p:nvPr/>
        </p:nvSpPr>
        <p:spPr>
          <a:xfrm>
            <a:off x="8418576" y="283464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Using Object Storage-backed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102"/>
          <p:cNvSpPr/>
          <p:nvPr/>
        </p:nvSpPr>
        <p:spPr>
          <a:xfrm>
            <a:off x="2415540" y="384048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102"/>
          <p:cNvSpPr/>
          <p:nvPr/>
        </p:nvSpPr>
        <p:spPr>
          <a:xfrm>
            <a:off x="3902964" y="3621024"/>
            <a:ext cx="438912" cy="438912"/>
          </a:xfrm>
          <a:prstGeom prst="ellipse">
            <a:avLst/>
          </a:prstGeom>
          <a:solidFill>
            <a:srgbClr val="B23A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02"/>
          <p:cNvSpPr/>
          <p:nvPr/>
        </p:nvSpPr>
        <p:spPr>
          <a:xfrm>
            <a:off x="3902964" y="36210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102"/>
          <p:cNvSpPr/>
          <p:nvPr/>
        </p:nvSpPr>
        <p:spPr>
          <a:xfrm>
            <a:off x="2543556" y="409651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Register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102"/>
          <p:cNvSpPr/>
          <p:nvPr/>
        </p:nvSpPr>
        <p:spPr>
          <a:xfrm>
            <a:off x="2543556" y="461772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Save to the Model Catalog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102"/>
          <p:cNvSpPr/>
          <p:nvPr/>
        </p:nvSpPr>
        <p:spPr>
          <a:xfrm>
            <a:off x="5829300" y="443026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102"/>
          <p:cNvSpPr/>
          <p:nvPr/>
        </p:nvSpPr>
        <p:spPr>
          <a:xfrm>
            <a:off x="6332220" y="3840480"/>
            <a:ext cx="3413760" cy="1417320"/>
          </a:xfrm>
          <a:prstGeom prst="roundRect">
            <a:avLst>
              <a:gd fmla="val 5806" name="adj"/>
            </a:avLst>
          </a:prstGeom>
          <a:solidFill>
            <a:srgbClr val="EEF3FC"/>
          </a:solidFill>
          <a:ln cap="flat" cmpd="sng" w="19050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02"/>
          <p:cNvSpPr/>
          <p:nvPr/>
        </p:nvSpPr>
        <p:spPr>
          <a:xfrm>
            <a:off x="7819644" y="3621024"/>
            <a:ext cx="438912" cy="438912"/>
          </a:xfrm>
          <a:prstGeom prst="ellipse">
            <a:avLst/>
          </a:prstGeom>
          <a:solidFill>
            <a:srgbClr val="B23A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102"/>
          <p:cNvSpPr/>
          <p:nvPr/>
        </p:nvSpPr>
        <p:spPr>
          <a:xfrm>
            <a:off x="7819644" y="36210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102"/>
          <p:cNvSpPr/>
          <p:nvPr/>
        </p:nvSpPr>
        <p:spPr>
          <a:xfrm>
            <a:off x="6460236" y="4096512"/>
            <a:ext cx="3157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102"/>
          <p:cNvSpPr/>
          <p:nvPr/>
        </p:nvSpPr>
        <p:spPr>
          <a:xfrm>
            <a:off x="6460236" y="4617720"/>
            <a:ext cx="3157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As a managed REST endpoint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10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10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0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10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10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Working with the ADS SDK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103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103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ads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ads.catalog.model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ModelCatalog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ads.set_auth(auth=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"resource_principal"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inside an OCI notebook session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B8CA6"/>
              </a:buClr>
              <a:buSzPts val="1350"/>
              <a:buFont typeface="Consolas"/>
              <a:buNone/>
            </a:pPr>
            <a:r>
              <a:rPr b="0" i="1" lang="en-US" sz="1350" u="none" cap="none" strike="noStrike">
                <a:solidFill>
                  <a:srgbClr val="7B8CA6"/>
                </a:solidFill>
                <a:latin typeface="Consolas"/>
                <a:ea typeface="Consolas"/>
                <a:cs typeface="Consolas"/>
                <a:sym typeface="Consolas"/>
              </a:rPr>
              <a:t># Read training data directly from Object Storage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 = pd.read_csv(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"oci://my-bucket@my-namespace/customers.csv"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catalog = ModelCatalog(compartment_id=COMPARTMENT_OCID)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catalog.list_models().head()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103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103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resource_principal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Authenticates using the notebook session's own identity — no embedded API keys inside the notebook.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oci:// path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pandas reads directly from Object Storage via ADS's registered file handler — no manual download step.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always scope compartment_id explicitly rather than relying on a default compartment.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10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10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10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0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10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Connecting to Oracle Autonomous Database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104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Oracle Autonomous Database is a self-tuning, self-patching managed database — a common source system for enterprise feature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Connections from Python use the python-oracledb (or legacy cx_Oracle) driver, secured via a downloaded wallet and mutual TLS.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Query results load directly into a pandas DataFrame, bridging enterprise data straight into the Day 2 data-manipulation workflow.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most enterprise ML features originate in Oracle systems — this connection is the standard bridge from database to model.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pulling a customer feature table for model training, writing model scores back for downstream BI reporting.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never hard-code database credentials — use OCI Vault or environment-injected secrets.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0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10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105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105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SYNTAX / HOW TO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105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Querying Autonomous DB into a DataFrame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105"/>
          <p:cNvSpPr/>
          <p:nvPr/>
        </p:nvSpPr>
        <p:spPr>
          <a:xfrm>
            <a:off x="457200" y="1874520"/>
            <a:ext cx="5989320" cy="4434840"/>
          </a:xfrm>
          <a:prstGeom prst="roundRect">
            <a:avLst>
              <a:gd fmla="val 1443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05"/>
          <p:cNvSpPr/>
          <p:nvPr/>
        </p:nvSpPr>
        <p:spPr>
          <a:xfrm>
            <a:off x="713232" y="2075688"/>
            <a:ext cx="5477256" cy="40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oracledb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b="1" i="0" lang="en-US" sz="135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oracledb.init_oracle_client(config_dir=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"/path/to/wallet"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connection = oracledb.connect(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user=DB_USER, password=DB_PASSWORD, dsn=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"mydb_high"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query =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SELECT customer_id, account_age_days, avg_balance, region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FROM customer_features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WHERE snapshot_date = :snap_date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 = pd.read_sql(query, connection, params={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"snap_date"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"2026-08-01"</a:t>
            </a: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connection.close()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105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105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wallet + dsn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wallet provides the TLS credentials; the DSN alias (e.g., 'mydb_high') selects the connection's performance tier.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Parameterized query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Using :snap_date instead of string formatting prevents SQL injection — non-negotiable for production code.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Best practice: always connection.close() explicitly, or use a context manager, to avoid exhausting the connection pool.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10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10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06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106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106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Pulling a Feature Table for Model Training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106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06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df = pd.read_sql(query, connection, params={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"snap_date"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"2026-08-01"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print(df.shape)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print(df.dtypes)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X = df.drop(columns=[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"customer_id"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X_train, X_test, y_train, y_test = train_test_split(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   X, y, test_size=0.2, random_state=42)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106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06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106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(84213, 4)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customer_id          object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account_age_days      int64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avg_balance         float64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region                object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106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06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Data pulled directly from Autonomous DB flows into the exact same train_test_split → fit → predict pipeline used throughout Day 3–4.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Checking dtypes immediately after the query catches Oracle NUMBER columns arriving as unexpected Python types before they cause silent bugs.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step is precisely what a scheduled OCI Data Science job would run nightly to refresh a training dataset.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10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10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07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107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107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Deploying ML Models with OCI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107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OCI Model Deployment turns a registered Model Catalog artifact into a managed, auto-scaling REST endpoint.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Deployment separates training (periodic, offline) from serving (continuous, online) — the core MLOps principle.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Endpoints support versioning and traffic splitting, enabling safe rollout of a new model version alongside the current one.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Industry relevance: this is how the joblib model from Day 4 becomes something other services can call over HTTPS with SLA guarantees.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Practical use cases: a fraud-scoring endpoint called synchronously at transaction time, a batch endpoint scored nightly.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Senior-level consideration: monitor deployed models for drift — a model's accuracy degrades silently as real-world data shifts from training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10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10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108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08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108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From Trained Model to Live Endpoint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108"/>
          <p:cNvSpPr/>
          <p:nvPr/>
        </p:nvSpPr>
        <p:spPr>
          <a:xfrm>
            <a:off x="45720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08"/>
          <p:cNvSpPr/>
          <p:nvPr/>
        </p:nvSpPr>
        <p:spPr>
          <a:xfrm>
            <a:off x="1455039" y="2615184"/>
            <a:ext cx="438912" cy="438912"/>
          </a:xfrm>
          <a:prstGeom prst="ellipse">
            <a:avLst/>
          </a:prstGeom>
          <a:solidFill>
            <a:srgbClr val="B23A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08"/>
          <p:cNvSpPr/>
          <p:nvPr/>
        </p:nvSpPr>
        <p:spPr>
          <a:xfrm>
            <a:off x="145503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108"/>
          <p:cNvSpPr/>
          <p:nvPr/>
        </p:nvSpPr>
        <p:spPr>
          <a:xfrm>
            <a:off x="58521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Register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108"/>
          <p:cNvSpPr/>
          <p:nvPr/>
        </p:nvSpPr>
        <p:spPr>
          <a:xfrm>
            <a:off x="58521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Save artifact to the Model Catalog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108"/>
          <p:cNvSpPr/>
          <p:nvPr/>
        </p:nvSpPr>
        <p:spPr>
          <a:xfrm>
            <a:off x="289179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08"/>
          <p:cNvSpPr/>
          <p:nvPr/>
        </p:nvSpPr>
        <p:spPr>
          <a:xfrm>
            <a:off x="339471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08"/>
          <p:cNvSpPr/>
          <p:nvPr/>
        </p:nvSpPr>
        <p:spPr>
          <a:xfrm>
            <a:off x="4392549" y="2615184"/>
            <a:ext cx="438912" cy="438912"/>
          </a:xfrm>
          <a:prstGeom prst="ellipse">
            <a:avLst/>
          </a:prstGeom>
          <a:solidFill>
            <a:srgbClr val="B23A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08"/>
          <p:cNvSpPr/>
          <p:nvPr/>
        </p:nvSpPr>
        <p:spPr>
          <a:xfrm>
            <a:off x="439254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108"/>
          <p:cNvSpPr/>
          <p:nvPr/>
        </p:nvSpPr>
        <p:spPr>
          <a:xfrm>
            <a:off x="352272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Create Deployment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108"/>
          <p:cNvSpPr/>
          <p:nvPr/>
        </p:nvSpPr>
        <p:spPr>
          <a:xfrm>
            <a:off x="352272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Choose compute shape &amp; scaling policy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08"/>
          <p:cNvSpPr/>
          <p:nvPr/>
        </p:nvSpPr>
        <p:spPr>
          <a:xfrm>
            <a:off x="582930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108"/>
          <p:cNvSpPr/>
          <p:nvPr/>
        </p:nvSpPr>
        <p:spPr>
          <a:xfrm>
            <a:off x="633222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08"/>
          <p:cNvSpPr/>
          <p:nvPr/>
        </p:nvSpPr>
        <p:spPr>
          <a:xfrm>
            <a:off x="7330059" y="2615184"/>
            <a:ext cx="438912" cy="438912"/>
          </a:xfrm>
          <a:prstGeom prst="ellipse">
            <a:avLst/>
          </a:prstGeom>
          <a:solidFill>
            <a:srgbClr val="B23A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08"/>
          <p:cNvSpPr/>
          <p:nvPr/>
        </p:nvSpPr>
        <p:spPr>
          <a:xfrm>
            <a:off x="733005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108"/>
          <p:cNvSpPr/>
          <p:nvPr/>
        </p:nvSpPr>
        <p:spPr>
          <a:xfrm>
            <a:off x="646023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Expose Endpoint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108"/>
          <p:cNvSpPr/>
          <p:nvPr/>
        </p:nvSpPr>
        <p:spPr>
          <a:xfrm>
            <a:off x="646023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Managed HTTPS REST URL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108"/>
          <p:cNvSpPr/>
          <p:nvPr/>
        </p:nvSpPr>
        <p:spPr>
          <a:xfrm>
            <a:off x="8766810" y="3698748"/>
            <a:ext cx="38404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108"/>
          <p:cNvSpPr/>
          <p:nvPr/>
        </p:nvSpPr>
        <p:spPr>
          <a:xfrm>
            <a:off x="9269730" y="2834640"/>
            <a:ext cx="243459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 cap="flat" cmpd="sng" w="19050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108"/>
          <p:cNvSpPr/>
          <p:nvPr/>
        </p:nvSpPr>
        <p:spPr>
          <a:xfrm>
            <a:off x="10267569" y="2615184"/>
            <a:ext cx="438912" cy="438912"/>
          </a:xfrm>
          <a:prstGeom prst="ellipse">
            <a:avLst/>
          </a:prstGeom>
          <a:solidFill>
            <a:srgbClr val="B23A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108"/>
          <p:cNvSpPr/>
          <p:nvPr/>
        </p:nvSpPr>
        <p:spPr>
          <a:xfrm>
            <a:off x="10267569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108"/>
          <p:cNvSpPr/>
          <p:nvPr/>
        </p:nvSpPr>
        <p:spPr>
          <a:xfrm>
            <a:off x="9397746" y="3090672"/>
            <a:ext cx="21785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Monitor &amp; Scale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108"/>
          <p:cNvSpPr/>
          <p:nvPr/>
        </p:nvSpPr>
        <p:spPr>
          <a:xfrm>
            <a:off x="9397746" y="3611880"/>
            <a:ext cx="21785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Track latency, drift, and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10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108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109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09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PRACTICAL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09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Invoking a Deployed Model Endpoint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109"/>
          <p:cNvSpPr/>
          <p:nvPr/>
        </p:nvSpPr>
        <p:spPr>
          <a:xfrm>
            <a:off x="457200" y="1874520"/>
            <a:ext cx="5989320" cy="3246120"/>
          </a:xfrm>
          <a:prstGeom prst="roundRect">
            <a:avLst>
              <a:gd fmla="val 1972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109"/>
          <p:cNvSpPr/>
          <p:nvPr/>
        </p:nvSpPr>
        <p:spPr>
          <a:xfrm>
            <a:off x="713232" y="2075688"/>
            <a:ext cx="5477256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requests, oci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endpoint = f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"{DEPLOYMENT_URI}/predict"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signer = oci.auth.signers.get_resource_principals_signer()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payload = {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"account_age_days"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400,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"avg_balance"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1250.5,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"region"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"APAC"</a:t>
            </a: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response = requests.post(endpoint, json=payload, auth=signer)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8EEF7"/>
                </a:solidFill>
                <a:latin typeface="Consolas"/>
                <a:ea typeface="Consolas"/>
                <a:cs typeface="Consolas"/>
                <a:sym typeface="Consolas"/>
              </a:rPr>
              <a:t>print(response.json())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09"/>
          <p:cNvSpPr/>
          <p:nvPr/>
        </p:nvSpPr>
        <p:spPr>
          <a:xfrm>
            <a:off x="457200" y="5230368"/>
            <a:ext cx="5989320" cy="1078992"/>
          </a:xfrm>
          <a:prstGeom prst="roundRect">
            <a:avLst>
              <a:gd fmla="val 5085" name="adj"/>
            </a:avLst>
          </a:prstGeom>
          <a:solidFill>
            <a:srgbClr val="EEF3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109"/>
          <p:cNvSpPr/>
          <p:nvPr/>
        </p:nvSpPr>
        <p:spPr>
          <a:xfrm>
            <a:off x="658368" y="5303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109"/>
          <p:cNvSpPr/>
          <p:nvPr/>
        </p:nvSpPr>
        <p:spPr>
          <a:xfrm>
            <a:off x="658368" y="5532120"/>
            <a:ext cx="5577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{"prediction": "low_risk", "probability": 0.07}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109"/>
          <p:cNvSpPr/>
          <p:nvPr/>
        </p:nvSpPr>
        <p:spPr>
          <a:xfrm>
            <a:off x="67208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HOW THIS IS USED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109"/>
          <p:cNvSpPr/>
          <p:nvPr/>
        </p:nvSpPr>
        <p:spPr>
          <a:xfrm>
            <a:off x="6720840" y="2212848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resource principal signer authenticates the request without embedding static API keys in calling code.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response format mirrors what model.predict_proba() returned locally in Day 4 — deployment changes the transport, not the model logic.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is the endpoint a Streamlit app (Day 4) or another enterprise service would call in production instead of loading the joblib file directly.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10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10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10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110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110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Case Studies: End-to-End Enterprise Patterns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110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Each case study below combines the full stack covered this week: Python fundamentals, data engineering, a classical ML model, and OCI deployment.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Banking — Transaction Fraud Detection: Autonomous DB feature extraction → Logistic Regression / Decision Tree scoring → OCI Model Deployment endpoint called at transaction time.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Retail — Demand Forecasting: pandas aggregation of historical sales → Linear Regression baseline → Streamlit dashboard for planners, refreshed via a scheduled OCI Data Science job.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Operations — Document Processing: OCI Document Understanding extracts invoice fields → NLTK-based text cleanup → downstream classification of exception cases.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consistent thread: classical, explainable ML models deployed on managed cloud infrastructure outperform ad-hoc scripts on maintainability and auditability.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110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110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11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11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111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Case Study 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5" name="Google Shape;1675;p111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{3B286E94-94AD-4C82-8B56-ECC43290CDE1}</a:tableStyleId>
              </a:tblPr>
              <a:tblGrid>
                <a:gridCol w="2743200"/>
                <a:gridCol w="4572000"/>
                <a:gridCol w="3931925"/>
              </a:tblGrid>
              <a:tr h="754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Case Study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 Stack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Outcome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48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Transaction Fraud Detection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DB · scikit-learn · OCI Model Deployment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risk scoring at transaction time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Retail Demand Forecasting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pandas · Linear Regression · Streamlit · OCI Data Science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Weekly planner dashboard with refreshed forecasts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Invoice / Document Processing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OCI Document Understanding · NLTK · classification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Automated exception routing, reduced manual review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6" name="Google Shape;1676;p111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11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12"/>
          <p:cNvSpPr/>
          <p:nvPr/>
        </p:nvSpPr>
        <p:spPr>
          <a:xfrm>
            <a:off x="457200" y="502920"/>
            <a:ext cx="4206240" cy="457200"/>
          </a:xfrm>
          <a:prstGeom prst="roundRect">
            <a:avLst>
              <a:gd fmla="val 16000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112"/>
          <p:cNvSpPr/>
          <p:nvPr/>
        </p:nvSpPr>
        <p:spPr>
          <a:xfrm>
            <a:off x="457200" y="5029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112"/>
          <p:cNvSpPr/>
          <p:nvPr/>
        </p:nvSpPr>
        <p:spPr>
          <a:xfrm>
            <a:off x="457200" y="114300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Day 5 Summary: AI + Oracle Cloud Infrastructure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112"/>
          <p:cNvSpPr/>
          <p:nvPr/>
        </p:nvSpPr>
        <p:spPr>
          <a:xfrm>
            <a:off x="457200" y="2148840"/>
            <a:ext cx="111556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Mapped OCI's managed AI services to the problems they solve out of the box.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Developed and trained models inside OCI Data Science notebooks with the ADS SDK.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Connected Python directly to Oracle Autonomous Database and loaded features into pandas.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Registered and deployed a trained model as a scalable OCI REST endpoint.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✓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Walked through realistic banking, retail, and operations case studies spanning the full course stack.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11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Module Recap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1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13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13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COURSE RECAP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113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Final Course 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113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1 — Python Fundamentals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Production-grade control flow, functions, data structures, and OOP as the foundation for everything that follows.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2 — Data &amp; AI Essentials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NumPy, pandas, Matplotlib/Seaborn, and a disciplined data-cleaning workflow.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3 — AI &amp; ML Foundations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The scikit-learn split/fit/predict/evaluate pattern, Linear Regression, and KNN.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4 — Building AI 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Rigorous evaluation, Logistic Regression, Decision Trees, model persistence, Streamlit, and NLTK.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Day 5 — AI + Oracle Cloud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OCI AI services, Data Science notebooks, Autonomous DB connectivity, and production model deployment.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11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11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14"/>
          <p:cNvSpPr/>
          <p:nvPr/>
        </p:nvSpPr>
        <p:spPr>
          <a:xfrm>
            <a:off x="457200" y="365760"/>
            <a:ext cx="8686800" cy="329184"/>
          </a:xfrm>
          <a:prstGeom prst="roundRect">
            <a:avLst>
              <a:gd fmla="val 19444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14"/>
          <p:cNvSpPr/>
          <p:nvPr/>
        </p:nvSpPr>
        <p:spPr>
          <a:xfrm>
            <a:off x="502920" y="36576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 · AI + ORACLE CLOUD  •  FOR SENIOR PRACTITIONERS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114"/>
          <p:cNvSpPr/>
          <p:nvPr/>
        </p:nvSpPr>
        <p:spPr>
          <a:xfrm>
            <a:off x="457200" y="1042416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114"/>
          <p:cNvSpPr/>
          <p:nvPr/>
        </p:nvSpPr>
        <p:spPr>
          <a:xfrm>
            <a:off x="457200" y="1874520"/>
            <a:ext cx="112471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Treat notebooks as exploration tools and version-controlled modules as the production artifact — know when to promote code from one to the other.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Always split data before evaluating a model, and always check metrics beyond accuracy for imbalanced problems.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Adopt the fit/transform/predict Estimator convention in your own code — it composes cleanly with the entire scikit-learn ecosystem.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Model persistence (joblib) and deployment (OCI Model Deployment) are what separate a notebook result from a production system.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Managed cloud AI services (OCI) should be evaluated before building custom infrastructure for problems they already solve.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Every technique in this course is most valuable applied end-to-end: Oracle data in, a validated model, a monitored deployment out.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114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DAY 5 · AI + ORACLE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114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15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B2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115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232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115"/>
          <p:cNvSpPr/>
          <p:nvPr/>
        </p:nvSpPr>
        <p:spPr>
          <a:xfrm>
            <a:off x="-2194560" y="4389120"/>
            <a:ext cx="5029200" cy="5029200"/>
          </a:xfrm>
          <a:prstGeom prst="ellipse">
            <a:avLst/>
          </a:prstGeom>
          <a:solidFill>
            <a:srgbClr val="1B2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115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SENIOR PROFESSIONAL TRAINING PROGRAM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115"/>
          <p:cNvSpPr/>
          <p:nvPr/>
        </p:nvSpPr>
        <p:spPr>
          <a:xfrm>
            <a:off x="640080" y="182880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115"/>
          <p:cNvSpPr/>
          <p:nvPr/>
        </p:nvSpPr>
        <p:spPr>
          <a:xfrm>
            <a:off x="640080" y="35204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Questions, discussion, and next steps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115"/>
          <p:cNvSpPr/>
          <p:nvPr/>
        </p:nvSpPr>
        <p:spPr>
          <a:xfrm>
            <a:off x="640080" y="4846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115"/>
          <p:cNvSpPr/>
          <p:nvPr/>
        </p:nvSpPr>
        <p:spPr>
          <a:xfrm>
            <a:off x="640080" y="51389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with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115"/>
          <p:cNvSpPr/>
          <p:nvPr/>
        </p:nvSpPr>
        <p:spPr>
          <a:xfrm>
            <a:off x="4023360" y="4846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AUDIENCE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115"/>
          <p:cNvSpPr/>
          <p:nvPr/>
        </p:nvSpPr>
        <p:spPr>
          <a:xfrm>
            <a:off x="4023360" y="51389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Senior Software Professionals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115"/>
          <p:cNvSpPr/>
          <p:nvPr/>
        </p:nvSpPr>
        <p:spPr>
          <a:xfrm>
            <a:off x="7406640" y="4846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FOCUS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115"/>
          <p:cNvSpPr/>
          <p:nvPr/>
        </p:nvSpPr>
        <p:spPr>
          <a:xfrm>
            <a:off x="7406640" y="51389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· Data Science · ML · OCI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115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B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BAE"/>
                </a:solidFill>
                <a:latin typeface="Calibri"/>
                <a:ea typeface="Calibri"/>
                <a:cs typeface="Calibri"/>
                <a:sym typeface="Calibri"/>
              </a:rPr>
              <a:t>Python with AI  ·  Confidential Training Material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2026-09-05T08:28:55Z</dcterms:created>
  <dc:creator>PptxGenJS</dc:creator>
</cp:coreProperties>
</file>